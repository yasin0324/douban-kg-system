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HR@10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Content</c:v>
                  </c:pt>
                  <c:pt idx="1">
                    <c:v>ItemCF</c:v>
                  </c:pt>
                  <c:pt idx="2">
                    <c:v>KG-Path</c:v>
                  </c:pt>
                  <c:pt idx="3">
                    <c:v>KG-Embed</c:v>
                  </c:pt>
                  <c:pt idx="4">
                    <c:v>CFKG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0.3512</c:v>
                </c:pt>
                <c:pt idx="1">
                  <c:v>0.8083</c:v>
                </c:pt>
                <c:pt idx="2">
                  <c:v>0.3702</c:v>
                </c:pt>
                <c:pt idx="3">
                  <c:v>0.5333</c:v>
                </c:pt>
                <c:pt idx="4">
                  <c:v>0.4393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A3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基于知识图谱的电影推荐系统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中期进展汇报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[姓名]  /  [学号]  /  [指导教师]  /  [专业]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645920" cy="822960"/>
          </a:xfrm>
          <a:prstGeom prst="rect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749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135,990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电影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0" y="3749040"/>
            <a:ext cx="1645920" cy="822960"/>
          </a:xfrm>
          <a:prstGeom prst="rect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3749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接口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754880" y="3749040"/>
            <a:ext cx="1645920" cy="822960"/>
          </a:xfrm>
          <a:prstGeom prst="rect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3749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766560" y="3749040"/>
            <a:ext cx="1645920" cy="822960"/>
          </a:xfrm>
          <a:prstGeom prst="rect">
            <a:avLst/>
          </a:prstGeom>
          <a:solidFill>
            <a:srgbClr val="2E86AB">
              <a:alpha val="2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374904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E86A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研究背景与问题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三个核心问题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840480" cy="7132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6400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002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评分数据稀疏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长尾电影缺乏评分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840480" cy="7132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468880"/>
            <a:ext cx="6400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688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新用户冷启动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协同过滤依赖历史行为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840480" cy="713232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337560"/>
            <a:ext cx="64008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337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推荐缺乏解释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用户不理解推荐原因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课题目标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46320" y="1600200"/>
            <a:ext cx="3840480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600200"/>
            <a:ext cx="64008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5074920" y="160020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构建电影领域知识图谱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3840480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9" name="Shape 17"/>
          <p:cNvSpPr/>
          <p:nvPr/>
        </p:nvSpPr>
        <p:spPr>
          <a:xfrm>
            <a:off x="4846320" y="2468880"/>
            <a:ext cx="64008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246888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设计多算法推荐框架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3337560"/>
            <a:ext cx="3840480" cy="713232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22" name="Shape 20"/>
          <p:cNvSpPr/>
          <p:nvPr/>
        </p:nvSpPr>
        <p:spPr>
          <a:xfrm>
            <a:off x="4846320" y="3337560"/>
            <a:ext cx="64008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5074920" y="3337560"/>
            <a:ext cx="3474720" cy="713232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完成端到端可演示系统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97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图谱是结构化知识底座，推荐与解释是最终落地场景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总体技术路线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爬虫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993392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93392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90672" y="10972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346704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46704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清洗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3984" y="10972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700016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00016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97296" y="10972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53328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53328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150608" y="10972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406640" y="1097280"/>
            <a:ext cx="1097280" cy="73152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06640" y="1097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四层架构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4747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层次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职责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采集层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豆瓣电影/影人抓取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Playwright, MySQL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处理层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清洗、ETL、图谱构建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Neo4j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服务层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API、推荐、评测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58 APIs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展示层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交互界面、图谱可视化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 3, ECharts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双库架构设计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20040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Neo4j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6E3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业务数据库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图结构数据库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存储内容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原始数据、用户认证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评分与偏好行为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7类节点、7类关系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~144万条边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查询场景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搜索、筛选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分页、CRUD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路径查询、邻接遍历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图谱可视化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推荐支撑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用户行为读取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协同过滤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图谱路径推荐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嵌入训练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双库按查询模式分工，非冗余存储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数据采集与质量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92024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135,990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部电影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651760" y="1051560"/>
            <a:ext cx="192024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651760" y="105156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198,067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位影人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92024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个类型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2651760" y="2331720"/>
            <a:ext cx="1920240" cy="105156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23317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~144万</a:t>
            </a:r>
            <a:endParaRPr lang="en-US" sz="28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条图谱关系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960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数据质量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2588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缺失率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douban_score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977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流程：Playwright 采集  →  clean_pipeline 清洗  →  etl_to_neo4j 导入  →  图谱可用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知识图谱建模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[知识图谱 Schema 示意图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请插入截图]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类节点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 ·  Person  ·  Genre  ·  Region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 ·  ContentType  ·  YearBucket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关系及规模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9319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关系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起始→目标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预估规模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ACTED_IN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Person→Movie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~103万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Person→Movie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~15.8万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HAS_GENRE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Movie→Genre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~25.3万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Movie→Region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Movie→Language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HAS_CONTENT_TYPE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Movie→ContentType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IN_YEAR_BUCKET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Movie→YearBucket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推荐系统整体设计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用户信号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06040" cy="594360"/>
          </a:xfrm>
          <a:prstGeom prst="rect">
            <a:avLst/>
          </a:prstGeom>
          <a:solidFill>
            <a:srgbClr val="F5F7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4475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评分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确认型正反馈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83280" y="1371600"/>
            <a:ext cx="2606040" cy="594360"/>
          </a:xfrm>
          <a:prstGeom prst="rect">
            <a:avLst/>
          </a:prstGeom>
          <a:solidFill>
            <a:srgbClr val="F5F7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4475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7764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喜欢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较强辅助信号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371600"/>
            <a:ext cx="2606040" cy="594360"/>
          </a:xfrm>
          <a:prstGeom prst="rect">
            <a:avLst/>
          </a:prstGeom>
          <a:solidFill>
            <a:srgbClr val="F5F7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4475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1228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想看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弱兴趣信号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864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算法流程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solidFill>
            <a:srgbClr val="EBF5FB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54864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基线方法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ItemCF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3200400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3566160" y="2651760"/>
            <a:ext cx="2377440" cy="731520"/>
          </a:xfrm>
          <a:prstGeom prst="rect">
            <a:avLst/>
          </a:prstGeom>
          <a:solidFill>
            <a:srgbClr val="E8F8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56616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图谱方法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KG-Path / KG-Embed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17920" y="26517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6583680" y="2651760"/>
            <a:ext cx="2103120" cy="731520"/>
          </a:xfrm>
          <a:prstGeom prst="rect">
            <a:avLst/>
          </a:prstGeom>
          <a:solidFill>
            <a:srgbClr val="FEF9E7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58368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CFKG 融合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推荐+解释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3749040"/>
            <a:ext cx="39319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冷启动处理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有效信号 &lt; 3 时回退热门内容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4846320" y="3749040"/>
            <a:ext cx="3931920" cy="77724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8620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77840" y="37490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推荐解释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返回 reason_paths，支持图谱可视化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各算法设计要点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基线方法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图谱方法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3840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34440"/>
            <a:ext cx="64008" cy="1554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07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Content-Based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1645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特征 + 余弦相似度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基于电影元数据匹配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不依赖用户交互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384048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64008" cy="155448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0759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ItemCF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4592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用户-物品共现矩阵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相似物品加权推荐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协同信号最直接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3840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54680"/>
            <a:ext cx="64008" cy="1645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KG-Path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1-hop + 2-hop 路径匹配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共享导演/演员/类型证据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度惩罚降低偏差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最佳可解释性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154680"/>
            <a:ext cx="3840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154680"/>
            <a:ext cx="64008" cy="1645920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2278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KG-Embed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TransE 嵌入 + 7种关系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3-component 融合排序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最佳图谱方法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CFKG 融合主链路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solidFill>
            <a:srgbClr val="EBF5FB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ItemCF 召回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recall=300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1828800" cy="640080"/>
          </a:xfrm>
          <a:prstGeom prst="rect">
            <a:avLst/>
          </a:prstGeom>
          <a:solidFill>
            <a:srgbClr val="E8F8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920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KG-Embed 评分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1828800" cy="640080"/>
          </a:xfrm>
          <a:prstGeom prst="rect">
            <a:avLst/>
          </a:prstGeom>
          <a:solidFill>
            <a:srgbClr val="E8F8F5"/>
          </a:solidFill>
          <a:ln w="6350">
            <a:solidFill>
              <a:srgbClr val="E8EC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43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KG-Path 评分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1097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286000" y="27432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86AB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34640" y="1463040"/>
            <a:ext cx="1645920" cy="146304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14630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加权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融合排序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457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5120640" y="1645920"/>
            <a:ext cx="1645920" cy="1097280"/>
          </a:xfrm>
          <a:prstGeom prst="rect">
            <a:avLst/>
          </a:prstGeom>
          <a:solidFill>
            <a:srgbClr val="2E86AB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0" y="164592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推荐结果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最优参数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1371600"/>
          <a:ext cx="164592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6400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参数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item_cf_weight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kg_embed_weight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kg_path_weight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item_cf_recall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1" name="Text 18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当前以协同过滤为主驱动力，图谱组件权重有提升空间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离线评测结果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60604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测试用户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960120"/>
            <a:ext cx="260604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leave-one-out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60120"/>
            <a:ext cx="260604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0" y="96012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正样本 + 99 负样本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ItemCF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0.8083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86A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整体最优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KG-Path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最佳解释性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KG-Embed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最佳图谱方法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CFKG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A8A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融合主链路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0" descr=""/>
          <p:cNvGraphicFramePr/>
          <p:nvPr/>
        </p:nvGraphicFramePr>
        <p:xfrm>
          <a:off x="548640" y="3657600"/>
          <a:ext cx="804672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消融实验与分析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KG-Path 消融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1-hop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+2-hop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+IDF weighting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KG-Embed 消融</a:t>
            </a:r>
            <a:endParaRPr lang="en-US" sz="15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840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配置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原始三关系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扩图三元组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+融合排序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关键发现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3520440"/>
            <a:ext cx="26517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+25.2%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8580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扩展关系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从3种到7种关系，HR@10 显著提升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429000" y="3520440"/>
            <a:ext cx="26517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42900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+8.4%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356616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融合排序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3-component 评分策略进一步提升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3520440"/>
            <a:ext cx="2651760" cy="1188720"/>
          </a:xfrm>
          <a:prstGeom prst="rect">
            <a:avLst/>
          </a:prstGeom>
          <a:solidFill>
            <a:srgbClr val="F5F7FA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30936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NDCG↑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644652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IDF 惩罚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度惩罚改善排序质量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中期完成情况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91440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0700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005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数据链路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爬虫 + 清洗 + ETL 完成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005840"/>
            <a:ext cx="64008" cy="91440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20700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005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后端能力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接口全覆盖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21488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2148840"/>
            <a:ext cx="64008" cy="914400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350008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前端展示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页面可演示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754880" y="2148840"/>
            <a:ext cx="3840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754880" y="2148840"/>
            <a:ext cx="64008" cy="91440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350008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32120" y="21488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验证保障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项测试全部通过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94360" y="3429000"/>
            <a:ext cx="1645920" cy="91440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9436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3200" dirty="0"/>
          </a:p>
        </p:txBody>
      </p:sp>
      <p:sp>
        <p:nvSpPr>
          <p:cNvPr id="22" name="Shape 16"/>
          <p:cNvSpPr/>
          <p:nvPr/>
        </p:nvSpPr>
        <p:spPr>
          <a:xfrm>
            <a:off x="2697480" y="3429000"/>
            <a:ext cx="1645920" cy="91440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69748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</a:t>
            </a:r>
            <a:endParaRPr lang="en-US" sz="3200" dirty="0"/>
          </a:p>
        </p:txBody>
      </p:sp>
      <p:sp>
        <p:nvSpPr>
          <p:cNvPr id="24" name="Shape 18"/>
          <p:cNvSpPr/>
          <p:nvPr/>
        </p:nvSpPr>
        <p:spPr>
          <a:xfrm>
            <a:off x="4800600" y="3429000"/>
            <a:ext cx="1645920" cy="91440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0060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</a:t>
            </a:r>
            <a:endParaRPr lang="en-US" sz="3200" dirty="0"/>
          </a:p>
        </p:txBody>
      </p:sp>
      <p:sp>
        <p:nvSpPr>
          <p:cNvPr id="26" name="Shape 20"/>
          <p:cNvSpPr/>
          <p:nvPr/>
        </p:nvSpPr>
        <p:spPr>
          <a:xfrm>
            <a:off x="6903720" y="3429000"/>
            <a:ext cx="1645920" cy="914400"/>
          </a:xfrm>
          <a:prstGeom prst="rect">
            <a:avLst/>
          </a:prstGeom>
          <a:solidFill>
            <a:srgbClr val="2E86AB">
              <a:alpha val="10000"/>
            </a:srgbClr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903720" y="34290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86A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3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</a:t>
            </a:r>
            <a:endParaRPr lang="en-US" sz="3200" dirty="0"/>
          </a:p>
        </p:txBody>
      </p:sp>
      <p:sp>
        <p:nvSpPr>
          <p:cNvPr id="28" name="Shape 22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9" name="Text 23"/>
          <p:cNvSpPr/>
          <p:nvPr/>
        </p:nvSpPr>
        <p:spPr>
          <a:xfrm>
            <a:off x="548640" y="452628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系统主链路已打通，中期目标基本达成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2651760" cy="54864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1430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优化 CFKG 融合策略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调整权重分配与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候选排序机制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005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00584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补充实验分析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6616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消融实验、K值敏感性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案例分析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005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005840"/>
            <a:ext cx="265176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143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推进论文写作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44652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绪论、系统设计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实验分析章节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时间安排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0896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5303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阶段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时间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算法优化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3—4月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CFKG 权重优化、消融补充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论文初稿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绪论、系统设计、实验分析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终稿提交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全文修订、答辩准备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21" name="Shape 1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16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汇报结束，请各位老师批评指正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基于知识图谱的电影推荐系统 - 中期答辩</dc:title>
  <dc:subject>PptxGenJS Presentation</dc:subject>
  <dc:creator>Student</dc:creator>
  <cp:lastModifiedBy>Student</cp:lastModifiedBy>
  <cp:revision>1</cp:revision>
  <dcterms:created xsi:type="dcterms:W3CDTF">2026-03-24T13:35:18Z</dcterms:created>
  <dcterms:modified xsi:type="dcterms:W3CDTF">2026-03-24T13:35:18Z</dcterms:modified>
</cp:coreProperties>
</file>