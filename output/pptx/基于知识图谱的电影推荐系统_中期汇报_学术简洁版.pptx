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2D49"/>
                </a:solidFill>
                <a:latin typeface="Microsoft YaHei"/>
              </a:rPr>
              <a:t>基于知识图谱的电影推荐系统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60020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Microsoft YaHei"/>
              </a:rPr>
              <a:t>本科毕业设计中期汇报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057400"/>
            <a:ext cx="34747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Microsoft YaHei"/>
              </a:rPr>
              <a:t>汇报人：郭远信
指导教师：李芳芳
时间：2026 年 3 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4754880"/>
            <a:ext cx="2011680" cy="914400"/>
          </a:xfrm>
          <a:prstGeom prst="roundRect">
            <a:avLst/>
          </a:prstGeom>
          <a:solidFill>
            <a:srgbClr val="E8EFF9"/>
          </a:solidFill>
          <a:ln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864608"/>
            <a:ext cx="1865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62D49"/>
                </a:solidFill>
                <a:latin typeface="Microsoft YaHei"/>
              </a:rPr>
              <a:t>135,990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257800"/>
            <a:ext cx="18653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电影记录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4754880"/>
            <a:ext cx="2011680" cy="914400"/>
          </a:xfrm>
          <a:prstGeom prst="roundRect">
            <a:avLst/>
          </a:prstGeom>
          <a:solidFill>
            <a:srgbClr val="F3F5F8"/>
          </a:solidFill>
          <a:ln>
            <a:solidFill>
              <a:srgbClr val="F3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4864608"/>
            <a:ext cx="1865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62D49"/>
                </a:solidFill>
                <a:latin typeface="Microsoft YaHei"/>
              </a:rPr>
              <a:t>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257800"/>
            <a:ext cx="18653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后端接口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754880"/>
            <a:ext cx="2011680" cy="914400"/>
          </a:xfrm>
          <a:prstGeom prst="roundRect">
            <a:avLst/>
          </a:prstGeom>
          <a:solidFill>
            <a:srgbClr val="F8F3E8"/>
          </a:solidFill>
          <a:ln>
            <a:solidFill>
              <a:srgbClr val="F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4864608"/>
            <a:ext cx="1865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62D49"/>
                </a:solidFill>
                <a:latin typeface="Microsoft YaHe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5257800"/>
            <a:ext cx="18653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推荐算法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472" y="4754880"/>
            <a:ext cx="2011680" cy="914400"/>
          </a:xfrm>
          <a:prstGeom prst="roundRect">
            <a:avLst/>
          </a:prstGeom>
          <a:solidFill>
            <a:srgbClr val="EDF5EF"/>
          </a:solidFill>
          <a:ln>
            <a:solidFill>
              <a:srgbClr val="ED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4864608"/>
            <a:ext cx="1865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62D49"/>
                </a:solidFill>
                <a:latin typeface="Microsoft YaHe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4" y="5257800"/>
            <a:ext cx="18653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前端页面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18872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298448"/>
            <a:ext cx="13075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Playwright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554480"/>
            <a:ext cx="13075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采集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188720"/>
            <a:ext cx="1234440" cy="8686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1298448"/>
            <a:ext cx="11247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1554480"/>
            <a:ext cx="11247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原始数据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2468880"/>
            <a:ext cx="1417320" cy="868680"/>
          </a:xfrm>
          <a:prstGeom prst="roundRect">
            <a:avLst/>
          </a:prstGeom>
          <a:solidFill>
            <a:srgbClr val="E8EFF9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2578608"/>
            <a:ext cx="13075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Neo4j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2834640"/>
            <a:ext cx="13075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图结构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2468880"/>
            <a:ext cx="1234440" cy="8686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3224" y="2578608"/>
            <a:ext cx="11247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FastAPI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3224" y="2834640"/>
            <a:ext cx="11247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服务层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3703320"/>
            <a:ext cx="1234440" cy="868680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15984" y="3813048"/>
            <a:ext cx="11247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Vue3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4069080"/>
            <a:ext cx="11247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展示层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01200" y="1627632"/>
            <a:ext cx="118872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006840" y="2057400"/>
            <a:ext cx="137160" cy="41148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351008" y="2057400"/>
            <a:ext cx="0" cy="41148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915400" y="3337560"/>
            <a:ext cx="411480" cy="36576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0012680" y="3337560"/>
            <a:ext cx="274320" cy="36576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5097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62D49"/>
                </a:solidFill>
                <a:latin typeface="Microsoft YaHei"/>
              </a:rPr>
              <a:t>问题与目标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5952" y="457200"/>
            <a:ext cx="566928" cy="56692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5852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212080" cy="4206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572000" cy="20116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评分数据稀疏</a:t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新用户冷启动</a:t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推荐结果难解释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4572000" cy="868680"/>
          </a:xfrm>
          <a:prstGeom prst="roundRect">
            <a:avLst/>
          </a:prstGeom>
          <a:solidFill>
            <a:srgbClr val="E8EFF9"/>
          </a:solidFill>
          <a:ln w="12700"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480560"/>
            <a:ext cx="42428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62D49"/>
                </a:solidFill>
                <a:latin typeface="Microsoft YaHei"/>
              </a:rPr>
              <a:t>图谱服务推荐应用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212080" cy="4206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389888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课题目标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783080"/>
            <a:ext cx="4572000" cy="20116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构建电影知识图谱</a:t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实现五类推荐方法</a:t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完成可演示系统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4206240"/>
            <a:ext cx="4572000" cy="868680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ED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4480560"/>
            <a:ext cx="42428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62D49"/>
                </a:solidFill>
                <a:latin typeface="Microsoft YaHei"/>
              </a:rPr>
              <a:t>图谱不是终点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5097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62D49"/>
                </a:solidFill>
                <a:latin typeface="Microsoft YaHei"/>
              </a:rPr>
              <a:t>系统架构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5952" y="457200"/>
            <a:ext cx="566928" cy="56692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5852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44168"/>
            <a:ext cx="13990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Playwright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00200"/>
            <a:ext cx="1399031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豆瓣采集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234440"/>
            <a:ext cx="1508760" cy="8686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0904" y="1344168"/>
            <a:ext cx="13990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1600200"/>
            <a:ext cx="1399031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原始数据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23444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344168"/>
            <a:ext cx="13990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1600200"/>
            <a:ext cx="1399031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清洗标准化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1384" y="1234440"/>
            <a:ext cx="1508760" cy="868680"/>
          </a:xfrm>
          <a:prstGeom prst="roundRect">
            <a:avLst/>
          </a:prstGeom>
          <a:solidFill>
            <a:srgbClr val="E8EFF9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344168"/>
            <a:ext cx="13990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Neo4j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1600200"/>
            <a:ext cx="1399031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图谱存储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49056" y="123444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344168"/>
            <a:ext cx="13990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600200"/>
            <a:ext cx="1399031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服务接口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96728" y="1234440"/>
            <a:ext cx="1508760" cy="868680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51592" y="1344168"/>
            <a:ext cx="13990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Vue3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1592" y="1600200"/>
            <a:ext cx="1399031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前端展示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67128" y="1673352"/>
            <a:ext cx="393192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14800" y="1673352"/>
            <a:ext cx="393192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62472" y="1673352"/>
            <a:ext cx="393192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10144" y="1673352"/>
            <a:ext cx="393192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57816" y="1673352"/>
            <a:ext cx="393191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8368" y="2743200"/>
            <a:ext cx="3611880" cy="2011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2852928"/>
            <a:ext cx="33192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MySQL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3200400"/>
            <a:ext cx="3108960" cy="10972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550" b="1">
                <a:solidFill>
                  <a:srgbClr val="1F2937"/>
                </a:solidFill>
                <a:latin typeface="Microsoft YaHei"/>
              </a:rPr>
              <a:t>原始电影数据</a:t>
            </a:r>
          </a:p>
          <a:p>
            <a:pPr algn="l"/>
            <a:r>
              <a:rPr sz="1550" b="1">
                <a:solidFill>
                  <a:srgbClr val="1F2937"/>
                </a:solidFill>
                <a:latin typeface="Microsoft YaHei"/>
              </a:rPr>
              <a:t>用户行为数据</a:t>
            </a:r>
          </a:p>
          <a:p>
            <a:pPr algn="l"/>
            <a:r>
              <a:rPr sz="1550" b="1">
                <a:solidFill>
                  <a:srgbClr val="1F2937"/>
                </a:solidFill>
                <a:latin typeface="Microsoft YaHei"/>
              </a:rPr>
              <a:t>认证管理数据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35424" y="2743200"/>
            <a:ext cx="3611880" cy="2011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2852928"/>
            <a:ext cx="33192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Neo4j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200400"/>
            <a:ext cx="3108960" cy="10972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550" b="1">
                <a:solidFill>
                  <a:srgbClr val="1F2937"/>
                </a:solidFill>
                <a:latin typeface="Microsoft YaHei"/>
              </a:rPr>
              <a:t>图结构存储</a:t>
            </a:r>
          </a:p>
          <a:p>
            <a:pPr algn="l"/>
            <a:r>
              <a:rPr sz="1550" b="1">
                <a:solidFill>
                  <a:srgbClr val="1F2937"/>
                </a:solidFill>
                <a:latin typeface="Microsoft YaHei"/>
              </a:rPr>
              <a:t>路径与统计查询</a:t>
            </a:r>
          </a:p>
          <a:p>
            <a:pPr algn="l"/>
            <a:r>
              <a:rPr sz="1550" b="1">
                <a:solidFill>
                  <a:srgbClr val="1F2937"/>
                </a:solidFill>
                <a:latin typeface="Microsoft YaHei"/>
              </a:rPr>
              <a:t>图谱特征抽取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2743200"/>
            <a:ext cx="3035808" cy="2011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58784" y="2852928"/>
            <a:ext cx="2743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系统分层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1936" y="3200400"/>
            <a:ext cx="2560320" cy="123444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550" b="1">
                <a:solidFill>
                  <a:srgbClr val="1F2937"/>
                </a:solidFill>
                <a:latin typeface="Microsoft YaHei"/>
              </a:rPr>
              <a:t>采集层</a:t>
            </a:r>
          </a:p>
          <a:p>
            <a:pPr algn="l"/>
            <a:r>
              <a:rPr sz="1550" b="1">
                <a:solidFill>
                  <a:srgbClr val="1F2937"/>
                </a:solidFill>
                <a:latin typeface="Microsoft YaHei"/>
              </a:rPr>
              <a:t>处理层</a:t>
            </a:r>
          </a:p>
          <a:p>
            <a:pPr algn="l"/>
            <a:r>
              <a:rPr sz="1550" b="1">
                <a:solidFill>
                  <a:srgbClr val="1F2937"/>
                </a:solidFill>
                <a:latin typeface="Microsoft YaHei"/>
              </a:rPr>
              <a:t>服务层</a:t>
            </a:r>
          </a:p>
          <a:p>
            <a:pPr algn="l"/>
            <a:r>
              <a:rPr sz="1550" b="1">
                <a:solidFill>
                  <a:srgbClr val="1F2937"/>
                </a:solidFill>
                <a:latin typeface="Microsoft YaHei"/>
              </a:rPr>
              <a:t>展示层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12080"/>
            <a:ext cx="1078992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468112"/>
            <a:ext cx="10424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MySQL 管业务数据，Neo4j 管关系结构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5097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62D49"/>
                </a:solidFill>
                <a:latin typeface="Microsoft YaHei"/>
              </a:rPr>
              <a:t>数据与图谱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5952" y="457200"/>
            <a:ext cx="566928" cy="56692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5852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3886200" cy="2057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44168"/>
            <a:ext cx="35935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数据规模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96112" y="1664208"/>
          <a:ext cx="3401567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478"/>
                <a:gridCol w="1443089"/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27432" marR="2743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数值</a:t>
                      </a:r>
                    </a:p>
                  </a:txBody>
                  <a:tcPr marL="27432" marR="27432" marT="27432" marB="27432">
                    <a:solidFill>
                      <a:srgbClr val="1F3A5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Movies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135,990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Persons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198,067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Genres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32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</a:rPr>
                        <a:t>关系规模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ptos"/>
                        </a:rPr>
                        <a:t>1,443,933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3566160"/>
            <a:ext cx="3886200" cy="1874519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675887"/>
            <a:ext cx="35935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数据质量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77639"/>
            <a:ext cx="3383280" cy="105156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550" b="0">
                <a:solidFill>
                  <a:srgbClr val="1F2937"/>
                </a:solidFill>
                <a:latin typeface="Microsoft YaHei"/>
              </a:rPr>
              <a:t>评分缺失 </a:t>
            </a:r>
            <a:r>
              <a:rPr sz="1550" b="1">
                <a:solidFill>
                  <a:srgbClr val="1F2937"/>
                </a:solidFill>
                <a:latin typeface="Microsoft YaHei"/>
              </a:rPr>
              <a:t>30.52%</a:t>
            </a:r>
          </a:p>
          <a:p>
            <a:pPr algn="l"/>
            <a:r>
              <a:rPr sz="1550" b="0">
                <a:solidFill>
                  <a:srgbClr val="1F2937"/>
                </a:solidFill>
                <a:latin typeface="Microsoft YaHei"/>
              </a:rPr>
              <a:t>剧情缺失 </a:t>
            </a:r>
            <a:r>
              <a:rPr sz="1550" b="1">
                <a:solidFill>
                  <a:srgbClr val="1F2937"/>
                </a:solidFill>
                <a:latin typeface="Microsoft YaHei"/>
              </a:rPr>
              <a:t>36.76%</a:t>
            </a:r>
          </a:p>
          <a:p>
            <a:pPr algn="l"/>
            <a:r>
              <a:rPr sz="1550" b="1">
                <a:solidFill>
                  <a:srgbClr val="1F2937"/>
                </a:solidFill>
                <a:latin typeface="Microsoft YaHei"/>
              </a:rPr>
              <a:t>先清洗，再 ETL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8032" y="1234440"/>
            <a:ext cx="3063240" cy="1874519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1344168"/>
            <a:ext cx="277063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核心节点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1664208"/>
            <a:ext cx="2560320" cy="91440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Movie / Person / Genre</a:t>
            </a:r>
          </a:p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Region / Language</a:t>
            </a:r>
          </a:p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ContentType / YearBucket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218688" cy="1874519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344168"/>
            <a:ext cx="2926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核心关系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1664208"/>
            <a:ext cx="2706624" cy="91440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380" b="1">
                <a:solidFill>
                  <a:srgbClr val="1F2937"/>
                </a:solidFill>
                <a:latin typeface="Microsoft YaHei"/>
              </a:rPr>
              <a:t>DIRECTED / ACTED_IN</a:t>
            </a:r>
          </a:p>
          <a:p>
            <a:pPr algn="l"/>
            <a:r>
              <a:rPr sz="1380" b="1">
                <a:solidFill>
                  <a:srgbClr val="1F2937"/>
                </a:solidFill>
                <a:latin typeface="Microsoft YaHei"/>
              </a:rPr>
              <a:t>HAS_GENRE</a:t>
            </a:r>
          </a:p>
          <a:p>
            <a:pPr algn="l"/>
            <a:r>
              <a:rPr sz="1380" b="1">
                <a:solidFill>
                  <a:srgbClr val="1F2937"/>
                </a:solidFill>
                <a:latin typeface="Microsoft YaHei"/>
              </a:rPr>
              <a:t>IN_REGION / IN_LANGUAGE</a:t>
            </a:r>
          </a:p>
          <a:p>
            <a:pPr algn="l"/>
            <a:r>
              <a:rPr sz="1380" b="1">
                <a:solidFill>
                  <a:srgbClr val="1F2937"/>
                </a:solidFill>
                <a:latin typeface="Microsoft YaHei"/>
              </a:rPr>
              <a:t>HAS_CONTENT_TYPE</a:t>
            </a:r>
          </a:p>
          <a:p>
            <a:pPr algn="l"/>
            <a:r>
              <a:rPr sz="1380" b="1">
                <a:solidFill>
                  <a:srgbClr val="1F2937"/>
                </a:solidFill>
                <a:latin typeface="Microsoft YaHei"/>
              </a:rPr>
              <a:t>IN_YEAR_BUCKET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8032" y="3566160"/>
            <a:ext cx="6620256" cy="1874519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675887"/>
            <a:ext cx="63276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构建流程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4069080"/>
            <a:ext cx="1234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3" y="4178808"/>
            <a:ext cx="11247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crawl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3" y="4434840"/>
            <a:ext cx="11247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采集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4069080"/>
            <a:ext cx="1234440" cy="82296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4264" y="4178808"/>
            <a:ext cx="11247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clean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4434840"/>
            <a:ext cx="11247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清洗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069080"/>
            <a:ext cx="1234440" cy="822960"/>
          </a:xfrm>
          <a:prstGeom prst="roundRect">
            <a:avLst/>
          </a:prstGeom>
          <a:solidFill>
            <a:srgbClr val="E8EFF9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4178808"/>
            <a:ext cx="11247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ETL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4" y="4434840"/>
            <a:ext cx="11247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导入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4069080"/>
            <a:ext cx="1417320" cy="822960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1784" y="4178808"/>
            <a:ext cx="13075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4434840"/>
            <a:ext cx="13075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查询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55080" y="4480560"/>
            <a:ext cx="228600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63840" y="4480560"/>
            <a:ext cx="228600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372600" y="4480560"/>
            <a:ext cx="228600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5097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62D49"/>
                </a:solidFill>
                <a:latin typeface="Microsoft YaHei"/>
              </a:rPr>
              <a:t>推荐设计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5952" y="457200"/>
            <a:ext cx="566928" cy="56692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5852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1600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44168"/>
            <a:ext cx="1490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评分 / 喜欢 / 想看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234440"/>
            <a:ext cx="1508760" cy="8686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2344" y="1344168"/>
            <a:ext cx="13990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正反馈画像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5152" y="1234440"/>
            <a:ext cx="1828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1344168"/>
            <a:ext cx="17190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5 类算法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12864" y="1234440"/>
            <a:ext cx="1371600" cy="868680"/>
          </a:xfrm>
          <a:prstGeom prst="roundRect">
            <a:avLst/>
          </a:prstGeom>
          <a:solidFill>
            <a:srgbClr val="E8EFF9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7" y="1344168"/>
            <a:ext cx="12618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CFKG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7" y="1600200"/>
            <a:ext cx="12618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主链路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23376" y="1234440"/>
            <a:ext cx="1600200" cy="868680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344168"/>
            <a:ext cx="1490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2D49"/>
                </a:solidFill>
                <a:latin typeface="Aptos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600200"/>
            <a:ext cx="1490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Microsoft YaHei"/>
              </a:rPr>
              <a:t>解释接口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8568" y="1664208"/>
            <a:ext cx="393192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06240" y="1664208"/>
            <a:ext cx="393192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73952" y="1664208"/>
            <a:ext cx="393192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84464" y="1664208"/>
            <a:ext cx="393192" cy="0"/>
          </a:xfrm>
          <a:prstGeom prst="line">
            <a:avLst/>
          </a:prstGeom>
          <a:ln w="2286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8368" y="2560320"/>
            <a:ext cx="6108192" cy="3017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2670048"/>
            <a:ext cx="5815583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方法分工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96112" y="2999232"/>
          <a:ext cx="5623559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2082800"/>
                <a:gridCol w="2291080"/>
              </a:tblGrid>
              <a:tr h="36271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 marL="27432" marR="2743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方法</a:t>
                      </a:r>
                    </a:p>
                  </a:txBody>
                  <a:tcPr marL="27432" marR="2743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作用</a:t>
                      </a:r>
                    </a:p>
                  </a:txBody>
                  <a:tcPr marL="27432" marR="27432" marT="27432" marB="27432">
                    <a:solidFill>
                      <a:srgbClr val="1F3A5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基线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content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元数据相似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基线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item_cf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协同过滤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图谱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kg_path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路径推理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图谱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kg_embed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结构嵌入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</a:rPr>
                        <a:t>融合</a:t>
                      </a:r>
                    </a:p>
                  </a:txBody>
                  <a:tcPr marL="27432" marR="27432" marT="27432" marB="27432"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ptos"/>
                        </a:rPr>
                        <a:t>cfkg</a:t>
                      </a:r>
                    </a:p>
                  </a:txBody>
                  <a:tcPr marL="27432" marR="27432" marT="27432" marB="27432"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ptos"/>
                        </a:rPr>
                        <a:t>融合排序</a:t>
                      </a:r>
                    </a:p>
                  </a:txBody>
                  <a:tcPr marL="27432" marR="27432" marT="27432" marB="27432">
                    <a:solidFill>
                      <a:srgbClr val="E8EFF9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7059168" y="2560320"/>
            <a:ext cx="4389120" cy="13258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2670048"/>
            <a:ext cx="4096511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系统机制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2962656"/>
            <a:ext cx="3858768" cy="6400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YaHei"/>
              </a:rPr>
              <a:t>冷启动阈值 </a:t>
            </a:r>
            <a:r>
              <a:rPr sz="1500" b="1">
                <a:solidFill>
                  <a:srgbClr val="1F2937"/>
                </a:solidFill>
                <a:latin typeface="Microsoft YaHei"/>
              </a:rPr>
              <a:t>3</a:t>
            </a:r>
          </a:p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支持 explain 接口</a:t>
            </a:r>
          </a:p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行为变更失效缓存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59168" y="4251960"/>
            <a:ext cx="4389120" cy="13258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5472" y="4361688"/>
            <a:ext cx="4096511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关键口径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4645152"/>
            <a:ext cx="3858768" cy="6400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CFKG</a:t>
            </a:r>
            <a:r>
              <a:rPr sz="1500" b="0">
                <a:solidFill>
                  <a:srgbClr val="1F2937"/>
                </a:solidFill>
                <a:latin typeface="Microsoft YaHei"/>
              </a:rPr>
              <a:t> 是主链路</a:t>
            </a:r>
          </a:p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ItemCF</a:t>
            </a:r>
            <a:r>
              <a:rPr sz="1500" b="0">
                <a:solidFill>
                  <a:srgbClr val="1F2937"/>
                </a:solidFill>
                <a:latin typeface="Microsoft YaHei"/>
              </a:rPr>
              <a:t> 当前最优</a:t>
            </a:r>
          </a:p>
          <a:p>
            <a:pPr algn="l"/>
            <a:r>
              <a:rPr sz="1500" b="1">
                <a:solidFill>
                  <a:srgbClr val="1F2937"/>
                </a:solidFill>
                <a:latin typeface="Microsoft YaHei"/>
              </a:rPr>
              <a:t>KG-Embed</a:t>
            </a:r>
            <a:r>
              <a:rPr sz="1500" b="0">
                <a:solidFill>
                  <a:srgbClr val="1F2937"/>
                </a:solidFill>
                <a:latin typeface="Microsoft YaHei"/>
              </a:rPr>
              <a:t> 图谱最佳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5097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62D49"/>
                </a:solidFill>
                <a:latin typeface="Microsoft YaHei"/>
              </a:rPr>
              <a:t>阶段成果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5952" y="457200"/>
            <a:ext cx="566928" cy="56692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5852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2743200" cy="1554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44168"/>
            <a:ext cx="24505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数据链路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2468880" cy="8686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电影采集完成</a:t>
            </a:r>
          </a:p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影人采集完成</a:t>
            </a:r>
          </a:p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ETL 已跑通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1234440"/>
            <a:ext cx="2743200" cy="1554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5615" y="1344168"/>
            <a:ext cx="24505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后端能力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3904" y="1673352"/>
            <a:ext cx="2468880" cy="8686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查询接口可用</a:t>
            </a:r>
          </a:p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推荐接口可用</a:t>
            </a:r>
          </a:p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解释接口可用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0256" y="1234440"/>
            <a:ext cx="2743200" cy="1554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344168"/>
            <a:ext cx="24505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前端展示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673352"/>
            <a:ext cx="2468880" cy="8686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搜索详情可演示</a:t>
            </a:r>
          </a:p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推荐图谱可演示</a:t>
            </a:r>
          </a:p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统计画像可演示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234440"/>
            <a:ext cx="1847088" cy="1554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47504" y="1344168"/>
            <a:ext cx="1554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验证保障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5792" y="1673352"/>
            <a:ext cx="1572768" cy="8686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离线评测可复现</a:t>
            </a:r>
          </a:p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11 个测试文件</a:t>
            </a:r>
          </a:p>
          <a:p>
            <a:pPr algn="l"/>
            <a:r>
              <a:rPr sz="1450" b="1">
                <a:solidFill>
                  <a:srgbClr val="1F2937"/>
                </a:solidFill>
                <a:latin typeface="Microsoft YaHei"/>
              </a:rPr>
              <a:t>关键用例已通过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03320"/>
            <a:ext cx="2011680" cy="960120"/>
          </a:xfrm>
          <a:prstGeom prst="roundRect">
            <a:avLst/>
          </a:prstGeom>
          <a:solidFill>
            <a:srgbClr val="E8EFF9"/>
          </a:solidFill>
          <a:ln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813048"/>
            <a:ext cx="1865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62D49"/>
                </a:solidFill>
                <a:latin typeface="Microsoft YaHei"/>
              </a:rPr>
              <a:t>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06240"/>
            <a:ext cx="18653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FastAPI 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703320"/>
            <a:ext cx="2011680" cy="960120"/>
          </a:xfrm>
          <a:prstGeom prst="roundRect">
            <a:avLst/>
          </a:prstGeom>
          <a:solidFill>
            <a:srgbClr val="F3F5F8"/>
          </a:solidFill>
          <a:ln>
            <a:solidFill>
              <a:srgbClr val="F3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3813048"/>
            <a:ext cx="1865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62D49"/>
                </a:solidFill>
                <a:latin typeface="Microsoft YaHei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4206240"/>
            <a:ext cx="18653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前端页面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703320"/>
            <a:ext cx="2011680" cy="960120"/>
          </a:xfrm>
          <a:prstGeom prst="roundRect">
            <a:avLst/>
          </a:prstGeom>
          <a:solidFill>
            <a:srgbClr val="F8F3E8"/>
          </a:solidFill>
          <a:ln>
            <a:solidFill>
              <a:srgbClr val="F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6752" y="3813048"/>
            <a:ext cx="1865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62D49"/>
                </a:solidFill>
                <a:latin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4206240"/>
            <a:ext cx="18653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推荐算法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3703320"/>
            <a:ext cx="2011680" cy="960120"/>
          </a:xfrm>
          <a:prstGeom prst="roundRect">
            <a:avLst/>
          </a:prstGeom>
          <a:solidFill>
            <a:srgbClr val="EDF5EF"/>
          </a:solidFill>
          <a:ln>
            <a:solidFill>
              <a:srgbClr val="ED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2" y="3813048"/>
            <a:ext cx="1865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62D49"/>
                </a:solidFill>
                <a:latin typeface="Microsoft YaHe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4206240"/>
            <a:ext cx="18653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测试文件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074920"/>
            <a:ext cx="10789920" cy="10058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394960"/>
            <a:ext cx="10332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主链路已打通，系统已具备可演示、可评测、可继续优化的基础。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5097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62D49"/>
                </a:solidFill>
                <a:latin typeface="Microsoft YaHei"/>
              </a:rPr>
              <a:t>实验结果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5952" y="457200"/>
            <a:ext cx="566928" cy="56692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5852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2057400" cy="502920"/>
          </a:xfrm>
          <a:prstGeom prst="roundRect">
            <a:avLst/>
          </a:prstGeom>
          <a:solidFill>
            <a:srgbClr val="E8EFF9"/>
          </a:solidFill>
          <a:ln w="12700">
            <a:solidFill>
              <a:srgbClr val="E8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07592"/>
            <a:ext cx="1828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62D49"/>
                </a:solidFill>
                <a:latin typeface="Microsoft YaHei"/>
              </a:rPr>
              <a:t>42 / 168 用户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170432"/>
            <a:ext cx="2834640" cy="50292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F3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307592"/>
            <a:ext cx="2596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62D49"/>
                </a:solidFill>
                <a:latin typeface="Microsoft YaHei"/>
              </a:rPr>
              <a:t>sampled leave-one-out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79592" y="1170432"/>
            <a:ext cx="2971800" cy="502920"/>
          </a:xfrm>
          <a:prstGeom prst="roundRect">
            <a:avLst/>
          </a:prstGeom>
          <a:solidFill>
            <a:srgbClr val="F8F3E8"/>
          </a:solidFill>
          <a:ln w="12700">
            <a:solidFill>
              <a:srgbClr val="F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8464" y="1307592"/>
            <a:ext cx="2743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62D49"/>
                </a:solidFill>
                <a:latin typeface="Microsoft YaHei"/>
              </a:rPr>
              <a:t>1 positive + 99 negatives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5897880" cy="37947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984248"/>
            <a:ext cx="56052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K = 10 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68680" y="2304288"/>
          <a:ext cx="546811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557"/>
                <a:gridCol w="1112158"/>
                <a:gridCol w="1343858"/>
                <a:gridCol w="1436537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算法</a:t>
                      </a:r>
                    </a:p>
                  </a:txBody>
                  <a:tcPr marL="27432" marR="2743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HR@10</a:t>
                      </a:r>
                    </a:p>
                  </a:txBody>
                  <a:tcPr marL="27432" marR="2743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NDCG@10</a:t>
                      </a:r>
                    </a:p>
                  </a:txBody>
                  <a:tcPr marL="27432" marR="2743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Avg Time(s)</a:t>
                      </a:r>
                    </a:p>
                  </a:txBody>
                  <a:tcPr marL="27432" marR="27432" marT="27432" marB="27432">
                    <a:solidFill>
                      <a:srgbClr val="1F3A5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content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0.3678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0.1846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0.25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</a:rPr>
                        <a:t>item_cf</a:t>
                      </a:r>
                    </a:p>
                  </a:txBody>
                  <a:tcPr marL="27432" marR="27432" marT="27432" marB="27432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ptos"/>
                        </a:rPr>
                        <a:t>0.8083</a:t>
                      </a:r>
                    </a:p>
                  </a:txBody>
                  <a:tcPr marL="27432" marR="27432" marT="27432" marB="27432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ptos"/>
                        </a:rPr>
                        <a:t>0.5992</a:t>
                      </a:r>
                    </a:p>
                  </a:txBody>
                  <a:tcPr marL="27432" marR="27432" marT="27432" marB="27432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Aptos"/>
                        </a:rPr>
                        <a:t>0.54</a:t>
                      </a:r>
                    </a:p>
                  </a:txBody>
                  <a:tcPr marL="27432" marR="27432" marT="27432" marB="27432">
                    <a:solidFill>
                      <a:srgbClr val="EDF5E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kg_path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0.3702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0.2573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3.34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kg_embed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0.5333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0.3330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5.98</a:t>
                      </a:r>
                    </a:p>
                  </a:txBody>
                  <a:tcPr marL="27432" marR="27432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</a:rPr>
                        <a:t>cfkg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0.4393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0.3156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ptos"/>
                        </a:rPr>
                        <a:t>18.59</a:t>
                      </a:r>
                    </a:p>
                  </a:txBody>
                  <a:tcPr marL="27432" marR="27432" marT="27432" marB="2743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784848" y="1874519"/>
            <a:ext cx="4663440" cy="166420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1984248"/>
            <a:ext cx="4370831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核心结论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267712"/>
            <a:ext cx="4206240" cy="91440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ItemCF</a:t>
            </a:r>
            <a:r>
              <a:rPr sz="1600" b="0">
                <a:solidFill>
                  <a:srgbClr val="1F2937"/>
                </a:solidFill>
                <a:latin typeface="Microsoft YaHei"/>
              </a:rPr>
              <a:t> 整体最优</a:t>
            </a:r>
          </a:p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KG-Embed</a:t>
            </a:r>
            <a:r>
              <a:rPr sz="1600" b="0">
                <a:solidFill>
                  <a:srgbClr val="1F2937"/>
                </a:solidFill>
                <a:latin typeface="Microsoft YaHei"/>
              </a:rPr>
              <a:t> 图谱最佳</a:t>
            </a:r>
          </a:p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CFKG</a:t>
            </a:r>
            <a:r>
              <a:rPr sz="1600" b="0">
                <a:solidFill>
                  <a:srgbClr val="1F2937"/>
                </a:solidFill>
                <a:latin typeface="Microsoft YaHei"/>
              </a:rPr>
              <a:t> 仍待优化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4848" y="3703320"/>
            <a:ext cx="4663440" cy="166420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3813048"/>
            <a:ext cx="4370831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下一阶段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4096512"/>
            <a:ext cx="4206240" cy="91440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优化 CFKG 权重</a:t>
            </a:r>
          </a:p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补全 ablation</a:t>
            </a:r>
          </a:p>
          <a:p>
            <a:pPr algn="l"/>
            <a:r>
              <a:rPr sz="1600" b="1">
                <a:solidFill>
                  <a:srgbClr val="1F2937"/>
                </a:solidFill>
                <a:latin typeface="Microsoft YaHei"/>
              </a:rPr>
              <a:t>启动论文正文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5097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62D49"/>
                </a:solidFill>
                <a:latin typeface="Microsoft YaHei"/>
              </a:rPr>
              <a:t>总结与下一步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5952" y="457200"/>
            <a:ext cx="566928" cy="56692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5852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5212080" cy="29260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81328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中期判断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663440" cy="15544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主链路已打通</a:t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中期目标已达成</a:t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已进入优化阶段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38928" cy="29260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81328"/>
            <a:ext cx="4846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D49"/>
                </a:solidFill>
                <a:latin typeface="Microsoft YaHei"/>
              </a:rPr>
              <a:t>后续重点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828800"/>
            <a:ext cx="4572000" cy="1554480"/>
          </a:xfrm>
          <a:prstGeom prst="rect">
            <a:avLst/>
          </a:prstGeom>
          <a:noFill/>
        </p:spPr>
        <p:txBody>
          <a:bodyPr wrap="square" lIns="45720" rIns="18288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优化 CFKG</a:t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完成实验分析</a:t>
            </a:r>
          </a:p>
          <a:p>
            <a:pPr algn="l"/>
            <a:r>
              <a:rPr sz="1800" b="1">
                <a:solidFill>
                  <a:srgbClr val="1F2937"/>
                </a:solidFill>
                <a:latin typeface="Microsoft YaHei"/>
              </a:rPr>
              <a:t>推进论文写作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937760"/>
            <a:ext cx="1078992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230368"/>
            <a:ext cx="10332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请老师批评指正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基于知识图谱的电影推荐系统中期汇报（学术简洁版）</dc:title>
  <dc:subject>本科毕设中期汇报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