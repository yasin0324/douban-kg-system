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E8EFF7"/>
                </a:solidFill>
                <a:latin typeface="微软雅黑"/>
              </a:rPr>
              <a:t>本科毕设中期答辩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210312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基于知识图谱的
电影推荐系统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20116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E8EFF7"/>
                </a:solidFill>
                <a:latin typeface="微软雅黑"/>
              </a:rPr>
              <a:t>Research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41248"/>
            <a:ext cx="5669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62B45"/>
                </a:solidFill>
                <a:latin typeface="微软雅黑"/>
              </a:rPr>
              <a:t>中期进展汇报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417320"/>
            <a:ext cx="60350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4F677F"/>
                </a:solidFill>
                <a:latin typeface="微软雅黑"/>
              </a:rPr>
              <a:t>基于 MySQL + Neo4j + FastAPI + Vue3 的端到端推荐系统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57400"/>
            <a:ext cx="27432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240280"/>
            <a:ext cx="822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A7583"/>
                </a:solidFill>
                <a:latin typeface="微软雅黑"/>
              </a:rPr>
              <a:t>学生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157984"/>
            <a:ext cx="1737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162B45"/>
                </a:solidFill>
                <a:latin typeface="微软雅黑"/>
              </a:rPr>
              <a:t>郭远信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06624"/>
            <a:ext cx="822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A7583"/>
                </a:solidFill>
                <a:latin typeface="微软雅黑"/>
              </a:rPr>
              <a:t>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651760"/>
            <a:ext cx="17373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212C3A"/>
                </a:solidFill>
                <a:latin typeface="微软雅黑"/>
              </a:rPr>
              <a:t>2022317220303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27248"/>
            <a:ext cx="10058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A7583"/>
                </a:solidFill>
                <a:latin typeface="微软雅黑"/>
              </a:rPr>
              <a:t>专业班级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72384"/>
            <a:ext cx="1325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212C3A"/>
                </a:solidFill>
                <a:latin typeface="微软雅黑"/>
              </a:rPr>
              <a:t>计科2201班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057400"/>
            <a:ext cx="27432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240280"/>
            <a:ext cx="868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A7583"/>
                </a:solidFill>
                <a:latin typeface="微软雅黑"/>
              </a:rPr>
              <a:t>指导教师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57984"/>
            <a:ext cx="1371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162B45"/>
                </a:solidFill>
                <a:latin typeface="微软雅黑"/>
              </a:rPr>
              <a:t>李芳芳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706624"/>
            <a:ext cx="868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A7583"/>
                </a:solidFill>
                <a:latin typeface="微软雅黑"/>
              </a:rPr>
              <a:t>职称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51760"/>
            <a:ext cx="1188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212C3A"/>
                </a:solidFill>
                <a:latin typeface="微软雅黑"/>
              </a:rPr>
              <a:t>副教授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27248"/>
            <a:ext cx="868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A7583"/>
                </a:solidFill>
                <a:latin typeface="微软雅黑"/>
              </a:rPr>
              <a:t>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72384"/>
            <a:ext cx="1371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212C3A"/>
                </a:solidFill>
                <a:latin typeface="微软雅黑"/>
              </a:rPr>
              <a:t>2026年3月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069080"/>
            <a:ext cx="1463040" cy="100584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4206240"/>
            <a:ext cx="131673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4690872"/>
            <a:ext cx="131673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6A7583"/>
                </a:solidFill>
                <a:latin typeface="微软雅黑"/>
              </a:rPr>
              <a:t>FastAPI 服务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4069080"/>
            <a:ext cx="1463040" cy="100584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206240"/>
            <a:ext cx="131673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4690872"/>
            <a:ext cx="131673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6A7583"/>
                </a:solidFill>
                <a:latin typeface="微软雅黑"/>
              </a:rPr>
              <a:t>推荐模块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069080"/>
            <a:ext cx="1463040" cy="100584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4206240"/>
            <a:ext cx="131673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690872"/>
            <a:ext cx="131673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6A7583"/>
                </a:solidFill>
                <a:latin typeface="微软雅黑"/>
              </a:rPr>
              <a:t>Vue3 前端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069080"/>
            <a:ext cx="1463040" cy="100584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206240"/>
            <a:ext cx="131673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42/168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690872"/>
            <a:ext cx="131673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6A7583"/>
                </a:solidFill>
                <a:latin typeface="微软雅黑"/>
              </a:rPr>
              <a:t>验证/测试用户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41080" y="1737360"/>
            <a:ext cx="2286000" cy="640080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0195560" y="2377440"/>
            <a:ext cx="731520" cy="1005840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195560" y="3383280"/>
            <a:ext cx="1097280" cy="1005840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641080" y="1737360"/>
            <a:ext cx="548639" cy="2468880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189719" y="4206240"/>
            <a:ext cx="2103121" cy="182880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549640" y="1600200"/>
            <a:ext cx="201168" cy="20116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81360" y="2331720"/>
            <a:ext cx="256032" cy="256032"/>
          </a:xfrm>
          <a:prstGeom prst="ellipse">
            <a:avLst/>
          </a:prstGeom>
          <a:solidFill>
            <a:srgbClr val="4F6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49840" y="3291840"/>
            <a:ext cx="201168" cy="20116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16567" y="4114800"/>
            <a:ext cx="164592" cy="164592"/>
          </a:xfrm>
          <a:prstGeom prst="ellipse">
            <a:avLst/>
          </a:prstGeom>
          <a:solidFill>
            <a:srgbClr val="4F6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47119" y="4315968"/>
            <a:ext cx="219456" cy="21945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研究背景与目标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3657600" cy="2011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143000"/>
            <a:ext cx="332841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508760"/>
            <a:ext cx="3364992" cy="135331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评分数据稀疏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冷启动较明显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推荐解释不足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05840"/>
            <a:ext cx="3657600" cy="2011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143000"/>
            <a:ext cx="332841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知识图谱优势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508760"/>
            <a:ext cx="3364992" cy="135331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结构语义更强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关联路径可解释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适合多源融合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005840"/>
            <a:ext cx="3291840" cy="2011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143000"/>
            <a:ext cx="29626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课题目标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1508760"/>
            <a:ext cx="2999232" cy="135331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构建电影图谱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设计推荐方法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实现完整系统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37560"/>
            <a:ext cx="10972800" cy="2697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547872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6A7583"/>
                </a:solidFill>
                <a:latin typeface="微软雅黑"/>
              </a:rPr>
              <a:t>本课题聚焦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40480"/>
            <a:ext cx="10058400" cy="17373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100" b="0">
                <a:solidFill>
                  <a:srgbClr val="212C3A"/>
                </a:solidFill>
                <a:latin typeface="微软雅黑"/>
              </a:rPr>
              <a:t>在电影推荐场景下，引入 </a:t>
            </a:r>
            <a:r>
              <a:rPr sz="2100" b="1">
                <a:solidFill>
                  <a:srgbClr val="162B45"/>
                </a:solidFill>
                <a:latin typeface="微软雅黑"/>
              </a:rPr>
              <a:t>Knowledge Graph</a:t>
            </a:r>
            <a:r>
              <a:rPr sz="2100" b="0">
                <a:solidFill>
                  <a:srgbClr val="212C3A"/>
                </a:solidFill>
                <a:latin typeface="微软雅黑"/>
              </a:rPr>
              <a:t> 的结构化信息，</a:t>
            </a:r>
          </a:p>
          <a:p>
            <a:pPr algn="l"/>
            <a:r>
              <a:rPr sz="2100" b="0">
                <a:solidFill>
                  <a:srgbClr val="212C3A"/>
                </a:solidFill>
                <a:latin typeface="微软雅黑"/>
              </a:rPr>
              <a:t>同时结合 </a:t>
            </a:r>
            <a:r>
              <a:rPr sz="2100" b="1">
                <a:solidFill>
                  <a:srgbClr val="162B45"/>
                </a:solidFill>
                <a:latin typeface="微软雅黑"/>
              </a:rPr>
              <a:t>ItemCF</a:t>
            </a:r>
            <a:r>
              <a:rPr sz="2100" b="0">
                <a:solidFill>
                  <a:srgbClr val="212C3A"/>
                </a:solidFill>
                <a:latin typeface="微软雅黑"/>
              </a:rPr>
              <a:t>、</a:t>
            </a:r>
            <a:r>
              <a:rPr sz="2100" b="1">
                <a:solidFill>
                  <a:srgbClr val="162B45"/>
                </a:solidFill>
                <a:latin typeface="微软雅黑"/>
              </a:rPr>
              <a:t>KG-Path</a:t>
            </a:r>
            <a:r>
              <a:rPr sz="2100" b="0">
                <a:solidFill>
                  <a:srgbClr val="212C3A"/>
                </a:solidFill>
                <a:latin typeface="微软雅黑"/>
              </a:rPr>
              <a:t>、</a:t>
            </a:r>
            <a:r>
              <a:rPr sz="2100" b="1">
                <a:solidFill>
                  <a:srgbClr val="162B45"/>
                </a:solidFill>
                <a:latin typeface="微软雅黑"/>
              </a:rPr>
              <a:t>KG-Embed</a:t>
            </a:r>
            <a:r>
              <a:rPr sz="2100" b="0">
                <a:solidFill>
                  <a:srgbClr val="212C3A"/>
                </a:solidFill>
                <a:latin typeface="微软雅黑"/>
              </a:rPr>
              <a:t> 和 </a:t>
            </a:r>
            <a:r>
              <a:rPr sz="2100" b="1">
                <a:solidFill>
                  <a:srgbClr val="162B45"/>
                </a:solidFill>
                <a:latin typeface="微软雅黑"/>
              </a:rPr>
              <a:t>CFKG</a:t>
            </a:r>
            <a:r>
              <a:rPr sz="2100" b="0">
                <a:solidFill>
                  <a:srgbClr val="212C3A"/>
                </a:solidFill>
                <a:latin typeface="微软雅黑"/>
              </a:rPr>
              <a:t>，</a:t>
            </a:r>
          </a:p>
          <a:p>
            <a:pPr algn="l"/>
            <a:r>
              <a:rPr sz="2100" b="0">
                <a:solidFill>
                  <a:srgbClr val="212C3A"/>
                </a:solidFill>
                <a:latin typeface="微软雅黑"/>
              </a:rPr>
              <a:t>实现从数据采集、图谱构建到推荐服务与前端展示的端到端系统。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532120"/>
            <a:ext cx="3017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6A7583"/>
                </a:solidFill>
                <a:latin typeface="微软雅黑"/>
              </a:rPr>
              <a:t>中期核心结论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468112"/>
            <a:ext cx="80467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62B45"/>
                </a:solidFill>
                <a:latin typeface="微软雅黑"/>
              </a:rPr>
              <a:t>系统主链路已贯通，实验框架已建立，下一阶段进入算法优化与论文撰写。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总体技术路线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1920240" cy="1417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103120"/>
            <a:ext cx="1554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162B45"/>
                </a:solidFill>
                <a:latin typeface="微软雅黑"/>
              </a:rPr>
              <a:t>数据采集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487168"/>
            <a:ext cx="15544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0">
                <a:solidFill>
                  <a:srgbClr val="212C3A"/>
                </a:solidFill>
                <a:latin typeface="微软雅黑"/>
              </a:rPr>
              <a:t>Playwright
豆瓣页面</a:t>
            </a:r>
          </a:p>
        </p:txBody>
      </p:sp>
      <p:sp>
        <p:nvSpPr>
          <p:cNvPr id="9" name="Chevron 8"/>
          <p:cNvSpPr/>
          <p:nvPr/>
        </p:nvSpPr>
        <p:spPr>
          <a:xfrm>
            <a:off x="2715768" y="2395728"/>
            <a:ext cx="320040" cy="438912"/>
          </a:xfrm>
          <a:prstGeom prst="chevron">
            <a:avLst/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1920240"/>
            <a:ext cx="19202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2103120"/>
            <a:ext cx="1554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162B45"/>
                </a:solidFill>
                <a:latin typeface="微软雅黑"/>
              </a:rPr>
              <a:t>数据清洗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824" y="2487168"/>
            <a:ext cx="15544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0">
                <a:solidFill>
                  <a:srgbClr val="212C3A"/>
                </a:solidFill>
                <a:latin typeface="微软雅黑"/>
              </a:rPr>
              <a:t>MySQL
规则标准化</a:t>
            </a:r>
          </a:p>
        </p:txBody>
      </p:sp>
      <p:sp>
        <p:nvSpPr>
          <p:cNvPr id="13" name="Chevron 12"/>
          <p:cNvSpPr/>
          <p:nvPr/>
        </p:nvSpPr>
        <p:spPr>
          <a:xfrm>
            <a:off x="5047488" y="2395728"/>
            <a:ext cx="320040" cy="438912"/>
          </a:xfrm>
          <a:prstGeom prst="chevron">
            <a:avLst/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49240" y="1920240"/>
            <a:ext cx="1920240" cy="1417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2103120"/>
            <a:ext cx="1554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162B45"/>
                </a:solidFill>
                <a:latin typeface="微软雅黑"/>
              </a:rPr>
              <a:t>图谱构建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5544" y="2487168"/>
            <a:ext cx="15544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0">
                <a:solidFill>
                  <a:srgbClr val="212C3A"/>
                </a:solidFill>
                <a:latin typeface="微软雅黑"/>
              </a:rPr>
              <a:t>Neo4j
节点与关系</a:t>
            </a:r>
          </a:p>
        </p:txBody>
      </p:sp>
      <p:sp>
        <p:nvSpPr>
          <p:cNvPr id="17" name="Chevron 16"/>
          <p:cNvSpPr/>
          <p:nvPr/>
        </p:nvSpPr>
        <p:spPr>
          <a:xfrm>
            <a:off x="7379208" y="2395728"/>
            <a:ext cx="320040" cy="438912"/>
          </a:xfrm>
          <a:prstGeom prst="chevron">
            <a:avLst/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59" y="1920240"/>
            <a:ext cx="19202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3" y="2103120"/>
            <a:ext cx="1554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162B45"/>
                </a:solidFill>
                <a:latin typeface="微软雅黑"/>
              </a:rPr>
              <a:t>推荐计算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2487168"/>
            <a:ext cx="15544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0">
                <a:solidFill>
                  <a:srgbClr val="212C3A"/>
                </a:solidFill>
                <a:latin typeface="微软雅黑"/>
              </a:rPr>
              <a:t>5 种算法
CFKG 融合</a:t>
            </a:r>
          </a:p>
        </p:txBody>
      </p:sp>
      <p:sp>
        <p:nvSpPr>
          <p:cNvPr id="21" name="Chevron 20"/>
          <p:cNvSpPr/>
          <p:nvPr/>
        </p:nvSpPr>
        <p:spPr>
          <a:xfrm>
            <a:off x="9710928" y="2395728"/>
            <a:ext cx="320040" cy="438912"/>
          </a:xfrm>
          <a:prstGeom prst="chevron">
            <a:avLst/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12680" y="1920240"/>
            <a:ext cx="1920240" cy="141732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58984" y="2103120"/>
            <a:ext cx="1554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162B45"/>
                </a:solidFill>
                <a:latin typeface="微软雅黑"/>
              </a:rPr>
              <a:t>系统展示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8984" y="2487168"/>
            <a:ext cx="15544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0">
                <a:solidFill>
                  <a:srgbClr val="212C3A"/>
                </a:solidFill>
                <a:latin typeface="微软雅黑"/>
              </a:rPr>
              <a:t>FastAPI + Vue3
解释与评测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977639"/>
            <a:ext cx="109728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206240"/>
            <a:ext cx="1737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6A7583"/>
                </a:solidFill>
                <a:latin typeface="微软雅黑"/>
              </a:rPr>
              <a:t>方法特点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4526280"/>
            <a:ext cx="10241280" cy="82296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数据链路闭环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图谱与协同过滤并行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支持推荐解释与离线评测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0" y="1280160"/>
            <a:ext cx="2286000" cy="640080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966960" y="1920240"/>
            <a:ext cx="731520" cy="1005840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966960" y="2926080"/>
            <a:ext cx="1097280" cy="1005840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12480" y="1280160"/>
            <a:ext cx="548639" cy="2468879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961119" y="3749039"/>
            <a:ext cx="2103121" cy="182881"/>
          </a:xfrm>
          <a:prstGeom prst="line">
            <a:avLst/>
          </a:prstGeom>
          <a:ln w="2032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321040" y="1143000"/>
            <a:ext cx="201168" cy="20116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52760" y="1874519"/>
            <a:ext cx="256032" cy="256032"/>
          </a:xfrm>
          <a:prstGeom prst="ellipse">
            <a:avLst/>
          </a:prstGeom>
          <a:solidFill>
            <a:srgbClr val="4F6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21240" y="2834640"/>
            <a:ext cx="201168" cy="20116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87967" y="3657600"/>
            <a:ext cx="164592" cy="164592"/>
          </a:xfrm>
          <a:prstGeom prst="ellipse">
            <a:avLst/>
          </a:prstGeom>
          <a:solidFill>
            <a:srgbClr val="4F6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18519" y="3858768"/>
            <a:ext cx="219456" cy="219456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数据与图谱构建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051560"/>
            <a:ext cx="466344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数据流水线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645920"/>
            <a:ext cx="1234440" cy="54864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764792"/>
            <a:ext cx="1124712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62B45"/>
                </a:solidFill>
                <a:latin typeface="微软雅黑"/>
              </a:rPr>
              <a:t>豆瓣页面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481328" y="2240280"/>
            <a:ext cx="274320" cy="219456"/>
          </a:xfrm>
          <a:prstGeom prst="downArrow">
            <a:avLst/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468880"/>
            <a:ext cx="1600200" cy="54864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587752"/>
            <a:ext cx="1490472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62B45"/>
                </a:solidFill>
                <a:latin typeface="微软雅黑"/>
              </a:rPr>
              <a:t>crawl_movie.py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481328" y="3063240"/>
            <a:ext cx="274320" cy="219456"/>
          </a:xfrm>
          <a:prstGeom prst="downArrow">
            <a:avLst/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3291840"/>
            <a:ext cx="1600200" cy="54864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410712"/>
            <a:ext cx="1490472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62B45"/>
                </a:solidFill>
                <a:latin typeface="微软雅黑"/>
              </a:rPr>
              <a:t>MySQL 清洗层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81328" y="3886200"/>
            <a:ext cx="274320" cy="219456"/>
          </a:xfrm>
          <a:prstGeom prst="downArrow">
            <a:avLst/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4114800"/>
            <a:ext cx="1691640" cy="54864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33672"/>
            <a:ext cx="1581912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62B45"/>
                </a:solidFill>
                <a:latin typeface="微软雅黑"/>
              </a:rPr>
              <a:t>etl_to_neo4j.py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481328" y="4709160"/>
            <a:ext cx="274320" cy="219456"/>
          </a:xfrm>
          <a:prstGeom prst="downArrow">
            <a:avLst/>
          </a:prstGeom>
          <a:solidFill>
            <a:srgbClr val="D5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4937760"/>
            <a:ext cx="1325880" cy="54864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5056632"/>
            <a:ext cx="1216152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62B45"/>
                </a:solidFill>
                <a:latin typeface="微软雅黑"/>
              </a:rPr>
              <a:t>Neo4j 图谱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1645920"/>
            <a:ext cx="1920240" cy="320040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主题页采集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字段清洗标准化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实体关系导入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支持图谱查询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1051560"/>
            <a:ext cx="598932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79008" y="1234440"/>
            <a:ext cx="21945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图谱模式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779008" y="1600200"/>
          <a:ext cx="530351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39"/>
                <a:gridCol w="4297679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marL="18288" marR="18288" marT="27432" marB="27432">
                    <a:solidFill>
                      <a:srgbClr val="16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18288" marR="18288" marT="27432" marB="27432">
                    <a:solidFill>
                      <a:srgbClr val="162B4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节点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Movie / Person / Genre / Region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节点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Language / YearBucket / ContentType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关系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DIRECTED / ACTED_IN / HAS_GENRE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关系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HAS_REGION / HAS_LANGUAGE / IN_YEAR_BUCKET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779008" y="4069080"/>
            <a:ext cx="1828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6A7583"/>
                </a:solidFill>
                <a:latin typeface="微软雅黑"/>
              </a:rPr>
              <a:t>设计要点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389120"/>
            <a:ext cx="5394960" cy="114300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600">
                <a:solidFill>
                  <a:srgbClr val="212C3A"/>
                </a:solidFill>
                <a:latin typeface="微软雅黑"/>
              </a:rPr>
              <a:t>统一电影与影人 ID</a:t>
            </a:r>
          </a:p>
          <a:p>
            <a:pPr algn="l"/>
            <a:r>
              <a:rPr sz="1600">
                <a:solidFill>
                  <a:srgbClr val="212C3A"/>
                </a:solidFill>
                <a:latin typeface="微软雅黑"/>
              </a:rPr>
              <a:t>保留结构关系与属性</a:t>
            </a:r>
          </a:p>
          <a:p>
            <a:pPr algn="l"/>
            <a:r>
              <a:rPr sz="1600">
                <a:solidFill>
                  <a:srgbClr val="212C3A"/>
                </a:solidFill>
                <a:latin typeface="微软雅黑"/>
              </a:rPr>
              <a:t>为路径与嵌入方法服务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系统实现架构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48006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261872"/>
            <a:ext cx="21031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系统分层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005840"/>
            <a:ext cx="3520440" cy="804672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115568"/>
            <a:ext cx="12344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50" b="1">
                <a:solidFill>
                  <a:srgbClr val="162B45"/>
                </a:solidFill>
                <a:latin typeface="微软雅黑"/>
              </a:rPr>
              <a:t>前端展示层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1115568"/>
            <a:ext cx="1828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500" b="0">
                <a:solidFill>
                  <a:srgbClr val="212C3A"/>
                </a:solidFill>
                <a:latin typeface="微软雅黑"/>
              </a:rPr>
              <a:t>Vue3 + Vite + Pinia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148840"/>
            <a:ext cx="3520440" cy="804672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258568"/>
            <a:ext cx="12344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50" b="1">
                <a:solidFill>
                  <a:srgbClr val="162B45"/>
                </a:solidFill>
                <a:latin typeface="微软雅黑"/>
              </a:rPr>
              <a:t>服务接口层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258568"/>
            <a:ext cx="1828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500" b="0">
                <a:solidFill>
                  <a:srgbClr val="212C3A"/>
                </a:solidFill>
                <a:latin typeface="微软雅黑"/>
              </a:rPr>
              <a:t>FastAPI + 50+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291840"/>
            <a:ext cx="3520440" cy="804672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401568"/>
            <a:ext cx="12344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50" b="1">
                <a:solidFill>
                  <a:srgbClr val="162B45"/>
                </a:solidFill>
                <a:latin typeface="微软雅黑"/>
              </a:rPr>
              <a:t>数据存储层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" y="3401568"/>
            <a:ext cx="1828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500" b="0">
                <a:solidFill>
                  <a:srgbClr val="212C3A"/>
                </a:solidFill>
                <a:latin typeface="微软雅黑"/>
              </a:rPr>
              <a:t>MySQL + Neo4j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434840"/>
            <a:ext cx="3520440" cy="804672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544568"/>
            <a:ext cx="12344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50" b="1">
                <a:solidFill>
                  <a:srgbClr val="162B45"/>
                </a:solidFill>
                <a:latin typeface="微软雅黑"/>
              </a:rPr>
              <a:t>采集处理层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0592" y="4544568"/>
            <a:ext cx="1828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500" b="0">
                <a:solidFill>
                  <a:srgbClr val="212C3A"/>
                </a:solidFill>
                <a:latin typeface="微软雅黑"/>
              </a:rPr>
              <a:t>Playwright + ETL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097280"/>
            <a:ext cx="580644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1888" y="1261872"/>
            <a:ext cx="2468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模块完成情况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627632"/>
            <a:ext cx="2606040" cy="16002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2" y="1764792"/>
            <a:ext cx="22768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后端模块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2130552"/>
            <a:ext cx="2313432" cy="94183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movies / persons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graph / stats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auth / 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627632"/>
            <a:ext cx="2606040" cy="16002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5672" y="1764792"/>
            <a:ext cx="22768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推荐模块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2130552"/>
            <a:ext cx="2313432" cy="94183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content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ItemCF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KG-Path / KG-Embed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456432"/>
            <a:ext cx="2606040" cy="16002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3593591"/>
            <a:ext cx="22768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前端模块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3959352"/>
            <a:ext cx="2313432" cy="94183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推荐页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搜索与详情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图谱与统计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3456432"/>
            <a:ext cx="2606040" cy="16002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05672" y="3593591"/>
            <a:ext cx="22768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验证模块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4" y="3959352"/>
            <a:ext cx="2313432" cy="94183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离线评测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算法对比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回归测试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16752" y="5440680"/>
            <a:ext cx="1417320" cy="713232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9904" y="5577840"/>
            <a:ext cx="127101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50+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6062472"/>
            <a:ext cx="127101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6A7583"/>
                </a:solidFill>
                <a:latin typeface="微软雅黑"/>
              </a:rPr>
              <a:t>FastAPI 接口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5440680"/>
            <a:ext cx="1417320" cy="713232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08392" y="5577840"/>
            <a:ext cx="127101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6062472"/>
            <a:ext cx="127101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6A7583"/>
                </a:solidFill>
                <a:latin typeface="微软雅黑"/>
              </a:rPr>
              <a:t>推荐算法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53728" y="5440680"/>
            <a:ext cx="1417320" cy="713232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5577840"/>
            <a:ext cx="127101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6062472"/>
            <a:ext cx="127101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6A7583"/>
                </a:solidFill>
                <a:latin typeface="微软雅黑"/>
              </a:rPr>
              <a:t>前端页面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推荐方法设计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6400800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225296"/>
            <a:ext cx="21031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CFKG 主链路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463040" cy="749808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67128"/>
            <a:ext cx="13258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162B45"/>
                </a:solidFill>
                <a:latin typeface="微软雅黑"/>
              </a:rPr>
              <a:t>用户行为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0">
                <a:solidFill>
                  <a:srgbClr val="6A7583"/>
                </a:solidFill>
                <a:latin typeface="微软雅黑"/>
              </a:rPr>
              <a:t>评分 / 偏好 / Wish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600200"/>
            <a:ext cx="1645920" cy="56692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1728216"/>
            <a:ext cx="1508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50" b="1">
                <a:solidFill>
                  <a:srgbClr val="162B45"/>
                </a:solidFill>
                <a:latin typeface="微软雅黑"/>
              </a:rPr>
              <a:t>content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377440" y="1883664"/>
            <a:ext cx="365760" cy="448056"/>
          </a:xfrm>
          <a:prstGeom prst="line">
            <a:avLst/>
          </a:prstGeom>
          <a:ln w="1651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2468880"/>
            <a:ext cx="1645920" cy="56692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2596896"/>
            <a:ext cx="1508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50" b="1">
                <a:solidFill>
                  <a:srgbClr val="162B45"/>
                </a:solidFill>
                <a:latin typeface="微软雅黑"/>
              </a:rPr>
              <a:t>ItemCF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2331720"/>
            <a:ext cx="365760" cy="420624"/>
          </a:xfrm>
          <a:prstGeom prst="line">
            <a:avLst/>
          </a:prstGeom>
          <a:ln w="1651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3337560"/>
            <a:ext cx="1645920" cy="56692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3465576"/>
            <a:ext cx="1508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50" b="1">
                <a:solidFill>
                  <a:srgbClr val="162B45"/>
                </a:solidFill>
                <a:latin typeface="微软雅黑"/>
              </a:rPr>
              <a:t>KG-Path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2331720"/>
            <a:ext cx="365760" cy="1289304"/>
          </a:xfrm>
          <a:prstGeom prst="line">
            <a:avLst/>
          </a:prstGeom>
          <a:ln w="1651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0" y="4206240"/>
            <a:ext cx="1645920" cy="56692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7208" y="4334255"/>
            <a:ext cx="1508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50" b="1">
                <a:solidFill>
                  <a:srgbClr val="162B45"/>
                </a:solidFill>
                <a:latin typeface="微软雅黑"/>
              </a:rPr>
              <a:t>KG-Embed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2331720"/>
            <a:ext cx="365760" cy="2157983"/>
          </a:xfrm>
          <a:prstGeom prst="line">
            <a:avLst/>
          </a:prstGeom>
          <a:ln w="1651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83480" y="2423160"/>
            <a:ext cx="1417320" cy="96012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679192"/>
            <a:ext cx="12344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000" b="1">
                <a:solidFill>
                  <a:srgbClr val="162B45"/>
                </a:solidFill>
                <a:latin typeface="微软雅黑"/>
              </a:rPr>
              <a:t>CFKG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926080"/>
            <a:ext cx="12344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50" b="0">
                <a:solidFill>
                  <a:srgbClr val="6A7583"/>
                </a:solidFill>
                <a:latin typeface="微软雅黑"/>
              </a:rPr>
              <a:t>融合排序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89120" y="1883664"/>
            <a:ext cx="594360" cy="1024128"/>
          </a:xfrm>
          <a:prstGeom prst="line">
            <a:avLst/>
          </a:prstGeom>
          <a:ln w="1651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389120" y="2752344"/>
            <a:ext cx="594360" cy="155448"/>
          </a:xfrm>
          <a:prstGeom prst="line">
            <a:avLst/>
          </a:prstGeom>
          <a:ln w="1651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389120" y="2907792"/>
            <a:ext cx="594360" cy="713232"/>
          </a:xfrm>
          <a:prstGeom prst="line">
            <a:avLst/>
          </a:prstGeom>
          <a:ln w="1651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389120" y="2907792"/>
            <a:ext cx="594360" cy="1581911"/>
          </a:xfrm>
          <a:prstGeom prst="line">
            <a:avLst/>
          </a:prstGeom>
          <a:ln w="1651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92040" y="4160520"/>
            <a:ext cx="1600200" cy="77724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1768" y="4425696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162B45"/>
                </a:solidFill>
                <a:latin typeface="微软雅黑"/>
              </a:rPr>
              <a:t>推荐结果 + 解释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1051560"/>
            <a:ext cx="4297680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1225296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各方法角色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1645920"/>
            <a:ext cx="3886200" cy="896112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16952" y="1783080"/>
            <a:ext cx="355701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content / ItemCF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8664" y="2148840"/>
            <a:ext cx="3593592" cy="237744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基线对照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保证稳定召回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2697480"/>
            <a:ext cx="3886200" cy="896112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16952" y="2834640"/>
            <a:ext cx="355701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KG-Path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8664" y="3200400"/>
            <a:ext cx="3593592" cy="237744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利用显式关系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支持路径解释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749039"/>
            <a:ext cx="3886200" cy="896112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16952" y="3886200"/>
            <a:ext cx="355701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KG-Embed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8664" y="4251959"/>
            <a:ext cx="3593592" cy="237744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学习潜在语义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增强泛化能力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4800600"/>
            <a:ext cx="3886200" cy="896112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16952" y="4937760"/>
            <a:ext cx="355701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CFKG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98664" y="5303520"/>
            <a:ext cx="3593592" cy="237744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多分支融合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平衡精度与解释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阶段成果概览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2743200" cy="192024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188719"/>
            <a:ext cx="241401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数据链路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554480"/>
            <a:ext cx="2450592" cy="126187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采集脚本完成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清洗流程完成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图谱 ETL 可用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51560"/>
            <a:ext cx="2743200" cy="192024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1188719"/>
            <a:ext cx="241401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服务能力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1554480"/>
            <a:ext cx="2450592" cy="126187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50+ APIs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推荐解释接口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评测报告接口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051560"/>
            <a:ext cx="2560320" cy="192024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188719"/>
            <a:ext cx="223113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前端展示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4" y="1554480"/>
            <a:ext cx="2267712" cy="126187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推荐页完成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搜索详情完成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图谱统计可用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051560"/>
            <a:ext cx="2148840" cy="192024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1188719"/>
            <a:ext cx="18196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验证保障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18904" y="1554480"/>
            <a:ext cx="1856232" cy="126187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11 个测试文件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离线评测流程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回归检查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10881360" cy="2697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56432"/>
            <a:ext cx="2011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已完成工作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794760"/>
            <a:ext cx="5029200" cy="164592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800">
                <a:solidFill>
                  <a:srgbClr val="212C3A"/>
                </a:solidFill>
                <a:latin typeface="微软雅黑"/>
              </a:rPr>
              <a:t>完成系统总体架构</a:t>
            </a:r>
          </a:p>
          <a:p>
            <a:pPr algn="l"/>
            <a:r>
              <a:rPr sz="1800">
                <a:solidFill>
                  <a:srgbClr val="212C3A"/>
                </a:solidFill>
                <a:latin typeface="微软雅黑"/>
              </a:rPr>
              <a:t>完成 5 种推荐算法</a:t>
            </a:r>
          </a:p>
          <a:p>
            <a:pPr algn="l"/>
            <a:r>
              <a:rPr sz="1800">
                <a:solidFill>
                  <a:srgbClr val="212C3A"/>
                </a:solidFill>
                <a:latin typeface="微软雅黑"/>
              </a:rPr>
              <a:t>完成推荐页与评测页</a:t>
            </a:r>
          </a:p>
          <a:p>
            <a:pPr algn="l"/>
            <a:r>
              <a:rPr sz="1800">
                <a:solidFill>
                  <a:srgbClr val="212C3A"/>
                </a:solidFill>
                <a:latin typeface="微软雅黑"/>
              </a:rPr>
              <a:t>完成中期材料整理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456432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中期判断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794760"/>
            <a:ext cx="5029200" cy="1600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000" b="0">
                <a:solidFill>
                  <a:srgbClr val="212C3A"/>
                </a:solidFill>
                <a:latin typeface="微软雅黑"/>
              </a:rPr>
              <a:t>系统主链路已打通，</a:t>
            </a:r>
            <a:r>
              <a:rPr sz="2000" b="1">
                <a:solidFill>
                  <a:srgbClr val="162B45"/>
                </a:solidFill>
                <a:latin typeface="微软雅黑"/>
              </a:rPr>
              <a:t>中期阶段目标基本达成。</a:t>
            </a:r>
          </a:p>
          <a:p>
            <a:pPr algn="l"/>
            <a:r>
              <a:rPr sz="2000" b="0">
                <a:solidFill>
                  <a:srgbClr val="212C3A"/>
                </a:solidFill>
                <a:latin typeface="微软雅黑"/>
              </a:rPr>
              <a:t>当前重点从“功能实现”转向“效果优化 + 论文撰写”。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实验设置与评测协议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051560"/>
            <a:ext cx="48463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评测设置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00200"/>
          <a:ext cx="43434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834640"/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18288" marR="18288" marT="27432" marB="27432">
                    <a:solidFill>
                      <a:srgbClr val="16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配置</a:t>
                      </a:r>
                    </a:p>
                  </a:txBody>
                  <a:tcPr marL="18288" marR="18288" marT="27432" marB="27432">
                    <a:solidFill>
                      <a:srgbClr val="162B45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用户来源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公开豆瓣用户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验证 / 测试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42 / 168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协议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sampled leave-one-out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候选集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1 positive + 99 negatives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HR@K / NDCG@K / Time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0392" y="4572000"/>
            <a:ext cx="4434840" cy="109728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600">
                <a:solidFill>
                  <a:srgbClr val="212C3A"/>
                </a:solidFill>
                <a:latin typeface="微软雅黑"/>
              </a:rPr>
              <a:t>多 seed 评测</a:t>
            </a:r>
          </a:p>
          <a:p>
            <a:pPr algn="l"/>
            <a:r>
              <a:rPr sz="1600">
                <a:solidFill>
                  <a:srgbClr val="212C3A"/>
                </a:solidFill>
                <a:latin typeface="微软雅黑"/>
              </a:rPr>
              <a:t>支持消融实验</a:t>
            </a:r>
          </a:p>
          <a:p>
            <a:pPr algn="l"/>
            <a:r>
              <a:rPr sz="1600">
                <a:solidFill>
                  <a:srgbClr val="212C3A"/>
                </a:solidFill>
                <a:latin typeface="微软雅黑"/>
              </a:rPr>
              <a:t>支持报告导出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051560"/>
            <a:ext cx="580644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1234440"/>
            <a:ext cx="2743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评测流程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28800"/>
            <a:ext cx="1417320" cy="658368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3" y="1993392"/>
            <a:ext cx="130759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50" b="1">
                <a:solidFill>
                  <a:srgbClr val="162B45"/>
                </a:solidFill>
                <a:latin typeface="微软雅黑"/>
              </a:rPr>
              <a:t>行为数据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28800"/>
            <a:ext cx="1600200" cy="65836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98664" y="1993392"/>
            <a:ext cx="149047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50" b="1">
                <a:solidFill>
                  <a:srgbClr val="162B45"/>
                </a:solidFill>
                <a:latin typeface="微软雅黑"/>
              </a:rPr>
              <a:t>正样本抽取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828800"/>
            <a:ext cx="1097280" cy="658368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1993392"/>
            <a:ext cx="98755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50" b="1">
                <a:solidFill>
                  <a:srgbClr val="162B45"/>
                </a:solidFill>
                <a:latin typeface="微软雅黑"/>
              </a:rPr>
              <a:t>负采样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063240"/>
            <a:ext cx="1600200" cy="658368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98664" y="3227832"/>
            <a:ext cx="149047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50" b="1">
                <a:solidFill>
                  <a:srgbClr val="162B45"/>
                </a:solidFill>
                <a:latin typeface="微软雅黑"/>
              </a:rPr>
              <a:t>指标计算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3063240"/>
            <a:ext cx="1417320" cy="658368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3227832"/>
            <a:ext cx="130759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50" b="1">
                <a:solidFill>
                  <a:srgbClr val="162B45"/>
                </a:solidFill>
                <a:latin typeface="微软雅黑"/>
              </a:rPr>
              <a:t>报告输出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06640" y="2157984"/>
            <a:ext cx="91439" cy="0"/>
          </a:xfrm>
          <a:prstGeom prst="line">
            <a:avLst/>
          </a:prstGeom>
          <a:ln w="1524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2157984"/>
            <a:ext cx="182880" cy="0"/>
          </a:xfrm>
          <a:prstGeom prst="line">
            <a:avLst/>
          </a:prstGeom>
          <a:ln w="1524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966960" y="2487168"/>
            <a:ext cx="91440" cy="576072"/>
          </a:xfrm>
          <a:prstGeom prst="line">
            <a:avLst/>
          </a:prstGeom>
          <a:ln w="1524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0" y="3401568"/>
            <a:ext cx="182880" cy="0"/>
          </a:xfrm>
          <a:prstGeom prst="line">
            <a:avLst/>
          </a:prstGeom>
          <a:ln w="15240">
            <a:solidFill>
              <a:srgbClr val="D5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89320" y="4297680"/>
            <a:ext cx="5029200" cy="1234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0">
                <a:solidFill>
                  <a:srgbClr val="212C3A"/>
                </a:solidFill>
                <a:latin typeface="微软雅黑"/>
              </a:rPr>
              <a:t>协议版本：</a:t>
            </a:r>
            <a:r>
              <a:rPr sz="1800" b="1">
                <a:solidFill>
                  <a:srgbClr val="162B45"/>
                </a:solidFill>
                <a:latin typeface="微软雅黑"/>
              </a:rPr>
              <a:t>v2</a:t>
            </a:r>
          </a:p>
          <a:p>
            <a:pPr algn="l"/>
            <a:r>
              <a:rPr sz="1800" b="0">
                <a:solidFill>
                  <a:srgbClr val="212C3A"/>
                </a:solidFill>
                <a:latin typeface="微软雅黑"/>
              </a:rPr>
              <a:t>主表展示：</a:t>
            </a:r>
            <a:r>
              <a:rPr sz="1800" b="1">
                <a:solidFill>
                  <a:srgbClr val="162B45"/>
                </a:solidFill>
                <a:latin typeface="微软雅黑"/>
              </a:rPr>
              <a:t>HR@K 与 NDCG@K</a:t>
            </a:r>
          </a:p>
          <a:p>
            <a:pPr algn="l"/>
            <a:r>
              <a:rPr sz="1800" b="0">
                <a:solidFill>
                  <a:srgbClr val="212C3A"/>
                </a:solidFill>
                <a:latin typeface="微软雅黑"/>
              </a:rPr>
              <a:t>补充分析：</a:t>
            </a:r>
            <a:r>
              <a:rPr sz="1800" b="1">
                <a:solidFill>
                  <a:srgbClr val="162B45"/>
                </a:solidFill>
                <a:latin typeface="微软雅黑"/>
              </a:rPr>
              <a:t>Coverage / Diversity /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离线结果对比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051560"/>
            <a:ext cx="7498079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23774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K = 10 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00200"/>
          <a:ext cx="704087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1463040"/>
                <a:gridCol w="1645920"/>
                <a:gridCol w="1828800"/>
              </a:tblGrid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算法</a:t>
                      </a:r>
                    </a:p>
                  </a:txBody>
                  <a:tcPr marL="18288" marR="18288" marT="27432" marB="27432">
                    <a:solidFill>
                      <a:srgbClr val="16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HR@10</a:t>
                      </a:r>
                    </a:p>
                  </a:txBody>
                  <a:tcPr marL="18288" marR="18288" marT="27432" marB="27432">
                    <a:solidFill>
                      <a:srgbClr val="16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NDCG@10</a:t>
                      </a:r>
                    </a:p>
                  </a:txBody>
                  <a:tcPr marL="18288" marR="18288" marT="27432" marB="27432">
                    <a:solidFill>
                      <a:srgbClr val="16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Avg Time (s)</a:t>
                      </a:r>
                    </a:p>
                  </a:txBody>
                  <a:tcPr marL="18288" marR="18288" marT="27432" marB="27432">
                    <a:solidFill>
                      <a:srgbClr val="162B45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CFKG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0.4393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0.3156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18.59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content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0.3678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0.1846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0.25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C3A"/>
                          </a:solidFill>
                          <a:latin typeface="微软雅黑"/>
                        </a:rPr>
                        <a:t>ItemCF</a:t>
                      </a:r>
                    </a:p>
                  </a:txBody>
                  <a:tcPr marL="18288" marR="18288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C3A"/>
                          </a:solidFill>
                          <a:latin typeface="微软雅黑"/>
                        </a:rPr>
                        <a:t>0.8083</a:t>
                      </a:r>
                    </a:p>
                  </a:txBody>
                  <a:tcPr marL="18288" marR="18288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C3A"/>
                          </a:solidFill>
                          <a:latin typeface="微软雅黑"/>
                        </a:rPr>
                        <a:t>0.5992</a:t>
                      </a:r>
                    </a:p>
                  </a:txBody>
                  <a:tcPr marL="18288" marR="18288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C3A"/>
                          </a:solidFill>
                          <a:latin typeface="微软雅黑"/>
                        </a:rPr>
                        <a:t>0.54</a:t>
                      </a:r>
                    </a:p>
                  </a:txBody>
                  <a:tcPr marL="18288" marR="18288" marT="27432" marB="27432">
                    <a:solidFill>
                      <a:srgbClr val="E8F0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KG-Path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0.3702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0.2573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3.34</a:t>
                      </a:r>
                    </a:p>
                  </a:txBody>
                  <a:tcPr marL="18288" marR="18288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C3A"/>
                          </a:solidFill>
                          <a:latin typeface="微软雅黑"/>
                        </a:rPr>
                        <a:t>KG-Embed</a:t>
                      </a:r>
                    </a:p>
                  </a:txBody>
                  <a:tcPr marL="18288" marR="18288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0.5333</a:t>
                      </a:r>
                    </a:p>
                  </a:txBody>
                  <a:tcPr marL="18288" marR="18288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0.3330</a:t>
                      </a:r>
                    </a:p>
                  </a:txBody>
                  <a:tcPr marL="18288" marR="18288" marT="27432" marB="27432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C3A"/>
                          </a:solidFill>
                          <a:latin typeface="微软雅黑"/>
                        </a:rPr>
                        <a:t>5.98</a:t>
                      </a:r>
                    </a:p>
                  </a:txBody>
                  <a:tcPr marL="18288" marR="18288" marT="27432" marB="27432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846320"/>
            <a:ext cx="7086600" cy="86868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800">
                <a:solidFill>
                  <a:srgbClr val="212C3A"/>
                </a:solidFill>
                <a:latin typeface="微软雅黑"/>
              </a:rPr>
              <a:t>ItemCF 当前整体最优</a:t>
            </a:r>
          </a:p>
          <a:p>
            <a:pPr algn="l"/>
            <a:r>
              <a:rPr sz="1800">
                <a:solidFill>
                  <a:srgbClr val="212C3A"/>
                </a:solidFill>
                <a:latin typeface="微软雅黑"/>
              </a:rPr>
              <a:t>KG-Embed 是当前最佳图谱方法</a:t>
            </a:r>
          </a:p>
          <a:p>
            <a:pPr algn="l"/>
            <a:r>
              <a:rPr sz="1800">
                <a:solidFill>
                  <a:srgbClr val="212C3A"/>
                </a:solidFill>
                <a:latin typeface="微软雅黑"/>
              </a:rPr>
              <a:t>CFKG 仍有优化空间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51560"/>
            <a:ext cx="315468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234440"/>
            <a:ext cx="21945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核心观察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691640"/>
            <a:ext cx="2697480" cy="96012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828800"/>
            <a:ext cx="255117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0.8083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313432"/>
            <a:ext cx="255117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6A7583"/>
                </a:solidFill>
                <a:latin typeface="微软雅黑"/>
              </a:rPr>
              <a:t>ItemCF 的 HR@10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788920"/>
            <a:ext cx="2697480" cy="96012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926079"/>
            <a:ext cx="255117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0.5333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3410712"/>
            <a:ext cx="2551176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6A7583"/>
                </a:solidFill>
                <a:latin typeface="微软雅黑"/>
              </a:rPr>
              <a:t>KG-Embed 的 HR@10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3959352"/>
            <a:ext cx="2697480" cy="13258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133087"/>
            <a:ext cx="242316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162B45"/>
                </a:solidFill>
                <a:latin typeface="微软雅黑"/>
              </a:rPr>
              <a:t>结论：</a:t>
            </a:r>
            <a:r>
              <a:rPr sz="1600" b="0">
                <a:solidFill>
                  <a:srgbClr val="212C3A"/>
                </a:solidFill>
                <a:latin typeface="微软雅黑"/>
              </a:rPr>
              <a:t>图谱方法已体现效果，</a:t>
            </a:r>
          </a:p>
          <a:p>
            <a:pPr algn="l"/>
            <a:r>
              <a:rPr sz="1600" b="0">
                <a:solidFill>
                  <a:srgbClr val="212C3A"/>
                </a:solidFill>
                <a:latin typeface="微软雅黑"/>
              </a:rPr>
              <a:t>但需要继续提升 </a:t>
            </a:r>
            <a:r>
              <a:rPr sz="1600" b="1">
                <a:solidFill>
                  <a:srgbClr val="162B45"/>
                </a:solidFill>
                <a:latin typeface="微软雅黑"/>
              </a:rPr>
              <a:t>CFKG</a:t>
            </a:r>
            <a:r>
              <a:rPr sz="1600" b="0">
                <a:solidFill>
                  <a:srgbClr val="212C3A"/>
                </a:solidFill>
                <a:latin typeface="微软雅黑"/>
              </a:rPr>
              <a:t> 的融合质量。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当前问题与中期判断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051560"/>
            <a:ext cx="5303520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188719"/>
            <a:ext cx="497433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当前问题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554480"/>
            <a:ext cx="5010912" cy="455371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CFKG 精度偏低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融合耗时偏长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论文正文待启动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26080"/>
            <a:ext cx="4800600" cy="26974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154680"/>
            <a:ext cx="4526280" cy="205740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问题一：主链路效果仍低于 ItemCF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问题二：图谱缓存与评测耗时较高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问题三：论文只完成提纲与材料梳理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51560"/>
            <a:ext cx="5394960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188719"/>
            <a:ext cx="506577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62B45"/>
                </a:solidFill>
                <a:latin typeface="微软雅黑"/>
              </a:rPr>
              <a:t>中期判断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554480"/>
            <a:ext cx="5102352" cy="4553712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系统已基本成型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实验框架已可复用</a:t>
            </a:r>
          </a:p>
          <a:p>
            <a:pPr algn="l"/>
            <a:r>
              <a:rPr sz="1500">
                <a:solidFill>
                  <a:srgbClr val="212C3A"/>
                </a:solidFill>
                <a:latin typeface="微软雅黑"/>
              </a:rPr>
              <a:t>具备继续优化条件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2926080"/>
            <a:ext cx="4892040" cy="2697480"/>
          </a:xfrm>
          <a:prstGeom prst="roundRect">
            <a:avLst/>
          </a:prstGeom>
          <a:solidFill>
            <a:srgbClr val="E8EFF7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182112"/>
            <a:ext cx="4526280" cy="2011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000" b="1">
                <a:solidFill>
                  <a:srgbClr val="162B45"/>
                </a:solidFill>
                <a:latin typeface="微软雅黑"/>
              </a:rPr>
              <a:t>中期阶段已完成：</a:t>
            </a:r>
          </a:p>
          <a:p>
            <a:pPr algn="l"/>
            <a:r>
              <a:rPr sz="2000" b="0">
                <a:solidFill>
                  <a:srgbClr val="212C3A"/>
                </a:solidFill>
                <a:latin typeface="微软雅黑"/>
              </a:rPr>
              <a:t>数据链路、图谱构建、算法实现、系统展示。</a:t>
            </a:r>
          </a:p>
          <a:p>
            <a:pPr algn="l"/>
            <a:r>
              <a:rPr sz="2000" b="1">
                <a:solidFill>
                  <a:srgbClr val="162B45"/>
                </a:solidFill>
                <a:latin typeface="微软雅黑"/>
              </a:rPr>
              <a:t>下一阶段重点：</a:t>
            </a:r>
          </a:p>
          <a:p>
            <a:pPr algn="l"/>
            <a:r>
              <a:rPr sz="2000" b="0">
                <a:solidFill>
                  <a:srgbClr val="212C3A"/>
                </a:solidFill>
                <a:latin typeface="微软雅黑"/>
              </a:rPr>
              <a:t>算法优化、实验分析、论文写作。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37744" cy="23774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"/>
            <a:ext cx="9601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5"/>
                </a:solidFill>
                <a:latin typeface="微软雅黑"/>
              </a:rPr>
              <a:t>下一阶段计划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46888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19688" y="347472"/>
            <a:ext cx="42062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3063240" cy="4251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1572768"/>
            <a:ext cx="475488" cy="47548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581912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62B45"/>
                </a:solidFill>
                <a:latin typeface="微软雅黑"/>
              </a:rPr>
              <a:t>算法优化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0280"/>
            <a:ext cx="2697480" cy="118872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调 CFKG 权重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完善 ablation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压缩响应时间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40480"/>
            <a:ext cx="1463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A7583"/>
                </a:solidFill>
                <a:latin typeface="微软雅黑"/>
              </a:rPr>
              <a:t>阶段目标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96512"/>
            <a:ext cx="25146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62B45"/>
                </a:solidFill>
                <a:latin typeface="微软雅黑"/>
              </a:rPr>
              <a:t>提升主链路效果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417320"/>
            <a:ext cx="3063240" cy="4251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25112" y="1572768"/>
            <a:ext cx="475488" cy="47548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1581912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62B45"/>
                </a:solidFill>
                <a:latin typeface="微软雅黑"/>
              </a:rPr>
              <a:t>论文写作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40280"/>
            <a:ext cx="2697480" cy="118872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完成摘要与绪论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撰写系统设计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整理实验分析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840480"/>
            <a:ext cx="1463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A7583"/>
                </a:solidFill>
                <a:latin typeface="微软雅黑"/>
              </a:rPr>
              <a:t>阶段目标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096512"/>
            <a:ext cx="25146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62B45"/>
                </a:solidFill>
                <a:latin typeface="微软雅黑"/>
              </a:rPr>
              <a:t>形成前几章初稿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7808" y="1417320"/>
            <a:ext cx="3063240" cy="4251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0" y="1572768"/>
            <a:ext cx="475488" cy="47548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1581912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62B45"/>
                </a:solidFill>
                <a:latin typeface="微软雅黑"/>
              </a:rPr>
              <a:t>答辩准备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2240280"/>
            <a:ext cx="2697480" cy="118872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补充截图图表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优化汇报逻辑</a:t>
            </a:r>
          </a:p>
          <a:p>
            <a:pPr algn="l"/>
            <a:r>
              <a:rPr sz="1700">
                <a:solidFill>
                  <a:srgbClr val="212C3A"/>
                </a:solidFill>
                <a:latin typeface="微软雅黑"/>
              </a:rPr>
              <a:t>整理问答要点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3840480"/>
            <a:ext cx="1463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A7583"/>
                </a:solidFill>
                <a:latin typeface="微软雅黑"/>
              </a:rPr>
              <a:t>阶段目标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4096512"/>
            <a:ext cx="25146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62B45"/>
                </a:solidFill>
                <a:latin typeface="微软雅黑"/>
              </a:rPr>
              <a:t>完成中后期展示材料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897880"/>
            <a:ext cx="9966960" cy="54864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6007608"/>
            <a:ext cx="9601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162B45"/>
                </a:solidFill>
                <a:latin typeface="微软雅黑"/>
              </a:rPr>
              <a:t>预期结果：算法进一步优化，论文正文启动，答辩材料逐步完善。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86868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汇报结束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3200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28832" y="429768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62B45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76072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感谢各位老师指正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88920"/>
            <a:ext cx="55778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0">
                <a:solidFill>
                  <a:srgbClr val="E8EFF7"/>
                </a:solidFill>
                <a:latin typeface="微软雅黑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977639"/>
            <a:ext cx="6217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基于知识图谱的电影推荐系统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526280"/>
            <a:ext cx="4114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E8EFF7"/>
                </a:solidFill>
                <a:latin typeface="微软雅黑"/>
              </a:rPr>
              <a:t>郭远信  |  指导教师：李芳芳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19" y="1417320"/>
            <a:ext cx="2286000" cy="640080"/>
          </a:xfrm>
          <a:prstGeom prst="line">
            <a:avLst/>
          </a:prstGeom>
          <a:ln w="2032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058400" y="2057400"/>
            <a:ext cx="731519" cy="1005840"/>
          </a:xfrm>
          <a:prstGeom prst="line">
            <a:avLst/>
          </a:prstGeom>
          <a:ln w="2032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3063240"/>
            <a:ext cx="1097280" cy="1005840"/>
          </a:xfrm>
          <a:prstGeom prst="line">
            <a:avLst/>
          </a:prstGeom>
          <a:ln w="2032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03919" y="1417320"/>
            <a:ext cx="548640" cy="2468880"/>
          </a:xfrm>
          <a:prstGeom prst="line">
            <a:avLst/>
          </a:prstGeom>
          <a:ln w="2032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2559" y="3886200"/>
            <a:ext cx="2103121" cy="182880"/>
          </a:xfrm>
          <a:prstGeom prst="line">
            <a:avLst/>
          </a:prstGeom>
          <a:ln w="20320">
            <a:solidFill>
              <a:srgbClr val="E8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12480" y="128016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44200" y="2011680"/>
            <a:ext cx="256032" cy="256032"/>
          </a:xfrm>
          <a:prstGeom prst="ellipse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12680" y="297180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79407" y="3794760"/>
            <a:ext cx="164592" cy="164592"/>
          </a:xfrm>
          <a:prstGeom prst="ellipse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09959" y="3995928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基于知识图谱的电影推荐系统中期答辩汇报</dc:title>
  <dc:subject>本科毕设中期答辩</dc:subject>
  <dc:creator>OpenAI Codex</dc:creator>
  <cp:keywords>Knowledge Graph, Recommendation, FastAPI, Vue3, Neo4j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