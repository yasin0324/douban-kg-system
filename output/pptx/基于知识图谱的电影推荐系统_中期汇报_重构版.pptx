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7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基于知识图谱的电影推荐系统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66751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从数据采集到推荐展示的端到端系统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2004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73968" y="429768"/>
            <a:ext cx="51206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313A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53035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本科毕业设计中期汇报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23160"/>
            <a:ext cx="2743200" cy="9144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icrosoft YaHei"/>
              </a:rPr>
              <a:t>汇报人：郭远信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Microsoft YaHei"/>
              </a:rPr>
              <a:t>指导教师：李芳芳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Microsoft YaHei"/>
              </a:rPr>
              <a:t>时间：2026 年 3 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800600"/>
            <a:ext cx="1828800" cy="868680"/>
          </a:xfrm>
          <a:prstGeom prst="roundRect">
            <a:avLst/>
          </a:prstGeom>
          <a:solidFill>
            <a:srgbClr val="C97C5D"/>
          </a:solidFill>
          <a:ln>
            <a:solidFill>
              <a:srgbClr val="C97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4892040"/>
            <a:ext cx="16824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135,990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5257800"/>
            <a:ext cx="16824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icrosoft YaHei"/>
              </a:rPr>
              <a:t>电影记录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4800600"/>
            <a:ext cx="1828800" cy="868680"/>
          </a:xfrm>
          <a:prstGeom prst="roundRect">
            <a:avLst/>
          </a:prstGeom>
          <a:solidFill>
            <a:srgbClr val="4F6F52"/>
          </a:solidFill>
          <a:ln>
            <a:solidFill>
              <a:srgbClr val="4F6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4892040"/>
            <a:ext cx="16824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5257800"/>
            <a:ext cx="16824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icrosoft YaHei"/>
              </a:rPr>
              <a:t>后端接口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4800600"/>
            <a:ext cx="1828800" cy="868680"/>
          </a:xfrm>
          <a:prstGeom prst="roundRect">
            <a:avLst/>
          </a:prstGeom>
          <a:solidFill>
            <a:srgbClr val="97B067"/>
          </a:solidFill>
          <a:ln>
            <a:solidFill>
              <a:srgbClr val="97B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4892040"/>
            <a:ext cx="16824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5257800"/>
            <a:ext cx="16824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icrosoft YaHei"/>
              </a:rPr>
              <a:t>推荐算法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38544" y="4800600"/>
            <a:ext cx="1828800" cy="868680"/>
          </a:xfrm>
          <a:prstGeom prst="roundRect">
            <a:avLst/>
          </a:prstGeom>
          <a:solidFill>
            <a:srgbClr val="70838C"/>
          </a:solidFill>
          <a:ln>
            <a:solidFill>
              <a:srgbClr val="708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4892040"/>
            <a:ext cx="16824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5257800"/>
            <a:ext cx="16824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icrosoft YaHei"/>
              </a:rPr>
              <a:t>前端页面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66760" y="1234440"/>
            <a:ext cx="2194560" cy="548640"/>
          </a:xfrm>
          <a:prstGeom prst="line">
            <a:avLst/>
          </a:prstGeom>
          <a:ln w="15240">
            <a:solidFill>
              <a:srgbClr val="E8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646920" y="1783080"/>
            <a:ext cx="914400" cy="1188720"/>
          </a:xfrm>
          <a:prstGeom prst="line">
            <a:avLst/>
          </a:prstGeom>
          <a:ln w="15240">
            <a:solidFill>
              <a:srgbClr val="E8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46920" y="2971800"/>
            <a:ext cx="1325880" cy="822960"/>
          </a:xfrm>
          <a:prstGeom prst="line">
            <a:avLst/>
          </a:prstGeom>
          <a:ln w="15240">
            <a:solidFill>
              <a:srgbClr val="E8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1234440"/>
            <a:ext cx="548640" cy="2468880"/>
          </a:xfrm>
          <a:prstGeom prst="line">
            <a:avLst/>
          </a:prstGeom>
          <a:ln w="15240">
            <a:solidFill>
              <a:srgbClr val="E8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15400" y="3703320"/>
            <a:ext cx="2057400" cy="91440"/>
          </a:xfrm>
          <a:prstGeom prst="line">
            <a:avLst/>
          </a:prstGeom>
          <a:ln w="15240">
            <a:solidFill>
              <a:srgbClr val="E8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29600" y="1060704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97312" y="1700784"/>
            <a:ext cx="256032" cy="256032"/>
          </a:xfrm>
          <a:prstGeom prst="ellipse">
            <a:avLst/>
          </a:prstGeom>
          <a:solidFill>
            <a:srgbClr val="F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2912" y="2889504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33104" y="3621024"/>
            <a:ext cx="164592" cy="164592"/>
          </a:xfrm>
          <a:prstGeom prst="ellipse">
            <a:avLst/>
          </a:prstGeom>
          <a:solidFill>
            <a:srgbClr val="F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81360" y="3712463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709160"/>
            <a:ext cx="109728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1" y="4718304"/>
            <a:ext cx="1042415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18313A"/>
                </a:solidFill>
                <a:latin typeface="Microsoft YaHei"/>
              </a:rPr>
              <a:t>Playwright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4040" y="4709160"/>
            <a:ext cx="86868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1472" y="4718304"/>
            <a:ext cx="813815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18313A"/>
                </a:solidFill>
                <a:latin typeface="Microsoft YaHei"/>
              </a:rPr>
              <a:t>MySQL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4709160"/>
            <a:ext cx="86868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97311" y="4718304"/>
            <a:ext cx="813815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18313A"/>
                </a:solidFill>
                <a:latin typeface="Microsoft YaHei"/>
              </a:rPr>
              <a:t>Neo4j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5074920"/>
            <a:ext cx="10058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9952" y="5084064"/>
            <a:ext cx="95097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18313A"/>
                </a:solidFill>
                <a:latin typeface="Microsoft YaHei"/>
              </a:rPr>
              <a:t>FastAPI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40" y="5074920"/>
            <a:ext cx="8229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48672" y="5084064"/>
            <a:ext cx="7680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18313A"/>
                </a:solidFill>
                <a:latin typeface="Microsoft YaHei"/>
              </a:rPr>
              <a:t>Vue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38328"/>
            <a:ext cx="228600" cy="228600"/>
          </a:xfrm>
          <a:prstGeom prst="roundRect">
            <a:avLst/>
          </a:prstGeom>
          <a:solidFill>
            <a:srgbClr val="C97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19456"/>
            <a:ext cx="8961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8313A"/>
                </a:solidFill>
                <a:latin typeface="Microsoft YaHei"/>
              </a:rPr>
              <a:t>研究问题与课题目标</a:t>
            </a:r>
          </a:p>
        </p:txBody>
      </p:sp>
      <p:sp>
        <p:nvSpPr>
          <p:cNvPr id="4" name="Oval 3"/>
          <p:cNvSpPr/>
          <p:nvPr/>
        </p:nvSpPr>
        <p:spPr>
          <a:xfrm>
            <a:off x="11119104" y="228600"/>
            <a:ext cx="548640" cy="548640"/>
          </a:xfrm>
          <a:prstGeom prst="ellipse">
            <a:avLst/>
          </a:prstGeom>
          <a:solidFill>
            <a:srgbClr val="18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3968" y="329184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1051560" cy="256032"/>
          </a:xfrm>
          <a:prstGeom prst="roundRect">
            <a:avLst/>
          </a:prstGeom>
          <a:solidFill>
            <a:srgbClr val="C97C5D"/>
          </a:solidFill>
          <a:ln>
            <a:solidFill>
              <a:srgbClr val="C97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60704"/>
            <a:ext cx="996695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研究问题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051560"/>
            <a:ext cx="1051560" cy="256032"/>
          </a:xfrm>
          <a:prstGeom prst="roundRect">
            <a:avLst/>
          </a:prstGeom>
          <a:solidFill>
            <a:srgbClr val="4F6F52"/>
          </a:solidFill>
          <a:ln>
            <a:solidFill>
              <a:srgbClr val="4F6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060704"/>
            <a:ext cx="996695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课题目标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17320"/>
            <a:ext cx="4892040" cy="1005840"/>
          </a:xfrm>
          <a:prstGeom prst="roundRect">
            <a:avLst/>
          </a:prstGeom>
          <a:solidFill>
            <a:srgbClr val="F7ECE7"/>
          </a:solidFill>
          <a:ln w="13970">
            <a:solidFill>
              <a:srgbClr val="F7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27048"/>
            <a:ext cx="456285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评分数据稀疏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19656"/>
            <a:ext cx="4526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长尾电影缺少稳定评分，单靠显式评分难覆盖完整兴趣。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15768"/>
            <a:ext cx="4892040" cy="1005840"/>
          </a:xfrm>
          <a:prstGeom prst="roundRect">
            <a:avLst/>
          </a:prstGeom>
          <a:solidFill>
            <a:srgbClr val="F7ECE7"/>
          </a:solidFill>
          <a:ln w="13970">
            <a:solidFill>
              <a:srgbClr val="F7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825496"/>
            <a:ext cx="456285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冷启动明显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18103"/>
            <a:ext cx="4526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新用户历史行为少，协同过滤难直接给出可靠结果。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14215"/>
            <a:ext cx="4892040" cy="1005840"/>
          </a:xfrm>
          <a:prstGeom prst="roundRect">
            <a:avLst/>
          </a:prstGeom>
          <a:solidFill>
            <a:srgbClr val="F7ECE7"/>
          </a:solidFill>
          <a:ln w="13970">
            <a:solidFill>
              <a:srgbClr val="F7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123944"/>
            <a:ext cx="456285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解释性不足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16552"/>
            <a:ext cx="4526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只给推荐名单不够，需要说明为什么推荐这部电影。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417320"/>
            <a:ext cx="5074920" cy="1005840"/>
          </a:xfrm>
          <a:prstGeom prst="roundRect">
            <a:avLst/>
          </a:prstGeom>
          <a:solidFill>
            <a:srgbClr val="EAF1E6"/>
          </a:solidFill>
          <a:ln w="13970">
            <a:solidFill>
              <a:srgbClr val="EA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527048"/>
            <a:ext cx="47457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构建电影知识图谱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1819656"/>
            <a:ext cx="4709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把电影、影人、类型及扩展属性组织成可计算图结构。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715768"/>
            <a:ext cx="5074920" cy="1005840"/>
          </a:xfrm>
          <a:prstGeom prst="roundRect">
            <a:avLst/>
          </a:prstGeom>
          <a:solidFill>
            <a:srgbClr val="EAF1E6"/>
          </a:solidFill>
          <a:ln w="13970">
            <a:solidFill>
              <a:srgbClr val="EA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825496"/>
            <a:ext cx="47457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实现多算法推荐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118103"/>
            <a:ext cx="4709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同时实现基线方法、图谱方法和融合主链路。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14215"/>
            <a:ext cx="5074920" cy="1005840"/>
          </a:xfrm>
          <a:prstGeom prst="roundRect">
            <a:avLst/>
          </a:prstGeom>
          <a:solidFill>
            <a:srgbClr val="EAF1E6"/>
          </a:solidFill>
          <a:ln w="13970">
            <a:solidFill>
              <a:srgbClr val="EA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123944"/>
            <a:ext cx="47457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完成可展示系统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416552"/>
            <a:ext cx="4709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打通采集、后端、前端和离线评测，形成完整产品链路。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23560"/>
            <a:ext cx="10789920" cy="731520"/>
          </a:xfrm>
          <a:prstGeom prst="roundRect">
            <a:avLst/>
          </a:prstGeom>
          <a:solidFill>
            <a:srgbClr val="18313A"/>
          </a:solidFill>
          <a:ln>
            <a:solidFill>
              <a:srgbClr val="18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图谱是结构化知识底座，推荐与解释才是最终落地场景。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38328"/>
            <a:ext cx="228600" cy="228600"/>
          </a:xfrm>
          <a:prstGeom prst="roundRect">
            <a:avLst/>
          </a:prstGeom>
          <a:solidFill>
            <a:srgbClr val="C97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19456"/>
            <a:ext cx="8961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8313A"/>
                </a:solidFill>
                <a:latin typeface="Microsoft YaHei"/>
              </a:rPr>
              <a:t>总体技术路线与系统架构</a:t>
            </a:r>
          </a:p>
        </p:txBody>
      </p:sp>
      <p:sp>
        <p:nvSpPr>
          <p:cNvPr id="4" name="Oval 3"/>
          <p:cNvSpPr/>
          <p:nvPr/>
        </p:nvSpPr>
        <p:spPr>
          <a:xfrm>
            <a:off x="11119104" y="228600"/>
            <a:ext cx="548640" cy="548640"/>
          </a:xfrm>
          <a:prstGeom prst="ellipse">
            <a:avLst/>
          </a:prstGeom>
          <a:solidFill>
            <a:srgbClr val="18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3968" y="329184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1600200" cy="914400"/>
          </a:xfrm>
          <a:prstGeom prst="roundRect">
            <a:avLst/>
          </a:prstGeom>
          <a:solidFill>
            <a:srgbClr val="F7ECE7"/>
          </a:solidFill>
          <a:ln w="13970">
            <a:solidFill>
              <a:srgbClr val="F7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463039"/>
            <a:ext cx="1453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8313A"/>
                </a:solidFill>
                <a:latin typeface="Aptos"/>
              </a:rPr>
              <a:t>Playwright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783080"/>
            <a:ext cx="1453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8757A"/>
                </a:solidFill>
                <a:latin typeface="Microsoft YaHei"/>
              </a:rPr>
              <a:t>豆瓣采集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1783080"/>
            <a:ext cx="146304" cy="0"/>
          </a:xfrm>
          <a:prstGeom prst="line">
            <a:avLst/>
          </a:prstGeom>
          <a:ln w="2540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325880"/>
            <a:ext cx="1600200" cy="914400"/>
          </a:xfrm>
          <a:prstGeom prst="roundRect">
            <a:avLst/>
          </a:prstGeom>
          <a:solidFill>
            <a:srgbClr val="F6F0DB"/>
          </a:solidFill>
          <a:ln w="13970">
            <a:solidFill>
              <a:srgbClr val="F6F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1463039"/>
            <a:ext cx="1453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8313A"/>
                </a:solidFill>
                <a:latin typeface="Aptos"/>
              </a:rPr>
              <a:t>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1783080"/>
            <a:ext cx="1453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8757A"/>
                </a:solidFill>
                <a:latin typeface="Microsoft YaHei"/>
              </a:rPr>
              <a:t>原始数据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1783080"/>
            <a:ext cx="146304" cy="0"/>
          </a:xfrm>
          <a:prstGeom prst="line">
            <a:avLst/>
          </a:prstGeom>
          <a:ln w="2540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87952" y="1325880"/>
            <a:ext cx="1600200" cy="914400"/>
          </a:xfrm>
          <a:prstGeom prst="roundRect">
            <a:avLst/>
          </a:prstGeom>
          <a:solidFill>
            <a:srgbClr val="EAF1E6"/>
          </a:solidFill>
          <a:ln w="13970">
            <a:solidFill>
              <a:srgbClr val="EA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463039"/>
            <a:ext cx="1453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8313A"/>
                </a:solidFill>
                <a:latin typeface="Aptos"/>
              </a:rP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1783080"/>
            <a:ext cx="1453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8757A"/>
                </a:solidFill>
                <a:latin typeface="Microsoft YaHei"/>
              </a:rPr>
              <a:t>清洗标准化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88152" y="1783080"/>
            <a:ext cx="146304" cy="0"/>
          </a:xfrm>
          <a:prstGeom prst="line">
            <a:avLst/>
          </a:prstGeom>
          <a:ln w="2540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52744" y="1325880"/>
            <a:ext cx="1600200" cy="914400"/>
          </a:xfrm>
          <a:prstGeom prst="roundRect">
            <a:avLst/>
          </a:prstGeom>
          <a:solidFill>
            <a:srgbClr val="E8F0F1"/>
          </a:solidFill>
          <a:ln w="13970">
            <a:solidFill>
              <a:srgbClr val="E8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25896" y="1463039"/>
            <a:ext cx="1453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8313A"/>
                </a:solidFill>
                <a:latin typeface="Aptos"/>
              </a:rPr>
              <a:t>Neo4j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1783080"/>
            <a:ext cx="1453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8757A"/>
                </a:solidFill>
                <a:latin typeface="Microsoft YaHei"/>
              </a:rPr>
              <a:t>图谱存储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52944" y="1783080"/>
            <a:ext cx="146304" cy="0"/>
          </a:xfrm>
          <a:prstGeom prst="line">
            <a:avLst/>
          </a:prstGeom>
          <a:ln w="2540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17536" y="1325880"/>
            <a:ext cx="1600200" cy="914400"/>
          </a:xfrm>
          <a:prstGeom prst="roundRect">
            <a:avLst/>
          </a:prstGeom>
          <a:solidFill>
            <a:srgbClr val="F6F0DB"/>
          </a:solidFill>
          <a:ln w="13970">
            <a:solidFill>
              <a:srgbClr val="F6F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1463039"/>
            <a:ext cx="1453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8313A"/>
                </a:solidFill>
                <a:latin typeface="Aptos"/>
              </a:rPr>
              <a:t>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1783080"/>
            <a:ext cx="1453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8757A"/>
                </a:solidFill>
                <a:latin typeface="Microsoft YaHei"/>
              </a:rPr>
              <a:t>服务接口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17736" y="1783080"/>
            <a:ext cx="146304" cy="0"/>
          </a:xfrm>
          <a:prstGeom prst="line">
            <a:avLst/>
          </a:prstGeom>
          <a:ln w="2540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82328" y="1325880"/>
            <a:ext cx="1600200" cy="914400"/>
          </a:xfrm>
          <a:prstGeom prst="roundRect">
            <a:avLst/>
          </a:prstGeom>
          <a:solidFill>
            <a:srgbClr val="EAF1E6"/>
          </a:solidFill>
          <a:ln w="13970">
            <a:solidFill>
              <a:srgbClr val="EA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1463039"/>
            <a:ext cx="1453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8313A"/>
                </a:solidFill>
                <a:latin typeface="Aptos"/>
              </a:rPr>
              <a:t>Vue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1783080"/>
            <a:ext cx="1453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8757A"/>
                </a:solidFill>
                <a:latin typeface="Microsoft YaHei"/>
              </a:rPr>
              <a:t>前端展示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2743200"/>
            <a:ext cx="411480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2852928"/>
            <a:ext cx="378561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MySQL 的职责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154680"/>
            <a:ext cx="3657600" cy="1463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存储 movies / person 等原始结构化数据</a:t>
            </a:r>
          </a:p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存储用户认证、评分、喜欢、想看等业务型数据</a:t>
            </a:r>
          </a:p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支持搜索、行为写入和推荐输入构建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743200"/>
            <a:ext cx="425196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3792" y="2852928"/>
            <a:ext cx="39227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Neo4j 的职责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154680"/>
            <a:ext cx="3794760" cy="1508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存储 Movie / Person / Genre 及扩展图结构</a:t>
            </a:r>
          </a:p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支持图谱查询、最短路径、统计分析和图可视化</a:t>
            </a:r>
          </a:p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为 KG-Path / KG-Embed 提供结构特征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28048" y="2743200"/>
            <a:ext cx="1920240" cy="2194560"/>
          </a:xfrm>
          <a:prstGeom prst="roundRect">
            <a:avLst/>
          </a:prstGeom>
          <a:solidFill>
            <a:srgbClr val="18313A"/>
          </a:solidFill>
          <a:ln w="13970">
            <a:solidFill>
              <a:srgbClr val="18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2852928"/>
            <a:ext cx="159105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/>
              </a:rPr>
              <a:t>系统分层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3172968"/>
            <a:ext cx="1554480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icrosoft YaHei"/>
              </a:rPr>
              <a:t>采集层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Microsoft YaHei"/>
              </a:rPr>
              <a:t>处理层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Microsoft YaHei"/>
              </a:rPr>
              <a:t>服务层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Microsoft YaHei"/>
              </a:rPr>
              <a:t>展示层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00800"/>
            <a:ext cx="10058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8757A"/>
                </a:solidFill>
                <a:latin typeface="Microsoft YaHei"/>
              </a:rPr>
              <a:t>双库并不是重复建设，而是让图结构查询和业务型数据管理各用最合适的存储。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38328"/>
            <a:ext cx="228600" cy="228600"/>
          </a:xfrm>
          <a:prstGeom prst="roundRect">
            <a:avLst/>
          </a:prstGeom>
          <a:solidFill>
            <a:srgbClr val="C97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19456"/>
            <a:ext cx="8961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8313A"/>
                </a:solidFill>
                <a:latin typeface="Microsoft YaHei"/>
              </a:rPr>
              <a:t>数据与图谱构建</a:t>
            </a:r>
          </a:p>
        </p:txBody>
      </p:sp>
      <p:sp>
        <p:nvSpPr>
          <p:cNvPr id="4" name="Oval 3"/>
          <p:cNvSpPr/>
          <p:nvPr/>
        </p:nvSpPr>
        <p:spPr>
          <a:xfrm>
            <a:off x="11119104" y="228600"/>
            <a:ext cx="548640" cy="548640"/>
          </a:xfrm>
          <a:prstGeom prst="ellipse">
            <a:avLst/>
          </a:prstGeom>
          <a:solidFill>
            <a:srgbClr val="18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3968" y="329184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097280"/>
            <a:ext cx="2011680" cy="868680"/>
          </a:xfrm>
          <a:prstGeom prst="roundRect">
            <a:avLst/>
          </a:prstGeom>
          <a:solidFill>
            <a:srgbClr val="F7ECE7"/>
          </a:solidFill>
          <a:ln>
            <a:solidFill>
              <a:srgbClr val="F7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188720"/>
            <a:ext cx="1865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8313A"/>
                </a:solidFill>
                <a:latin typeface="Microsoft YaHei"/>
              </a:rPr>
              <a:t>135,990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554480"/>
            <a:ext cx="186537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8757A"/>
                </a:solidFill>
                <a:latin typeface="Microsoft YaHei"/>
              </a:rPr>
              <a:t>Movies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097280"/>
            <a:ext cx="2011680" cy="868680"/>
          </a:xfrm>
          <a:prstGeom prst="roundRect">
            <a:avLst/>
          </a:prstGeom>
          <a:solidFill>
            <a:srgbClr val="EAF1E6"/>
          </a:solidFill>
          <a:ln>
            <a:solidFill>
              <a:srgbClr val="EA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188720"/>
            <a:ext cx="1865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8313A"/>
                </a:solidFill>
                <a:latin typeface="Microsoft YaHei"/>
              </a:rPr>
              <a:t>198,067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4" y="1554480"/>
            <a:ext cx="186537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8757A"/>
                </a:solidFill>
                <a:latin typeface="Microsoft YaHei"/>
              </a:rPr>
              <a:t>Persons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057400"/>
            <a:ext cx="2011680" cy="868680"/>
          </a:xfrm>
          <a:prstGeom prst="roundRect">
            <a:avLst/>
          </a:prstGeom>
          <a:solidFill>
            <a:srgbClr val="F6F0DB"/>
          </a:solidFill>
          <a:ln>
            <a:solidFill>
              <a:srgbClr val="F6F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2148840"/>
            <a:ext cx="1865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8313A"/>
                </a:solidFill>
                <a:latin typeface="Microsoft YaHei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2514600"/>
            <a:ext cx="186537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8757A"/>
                </a:solidFill>
                <a:latin typeface="Microsoft YaHei"/>
              </a:rPr>
              <a:t>Genres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2057400"/>
            <a:ext cx="2011680" cy="868680"/>
          </a:xfrm>
          <a:prstGeom prst="roundRect">
            <a:avLst/>
          </a:prstGeom>
          <a:solidFill>
            <a:srgbClr val="E8F0F1"/>
          </a:solidFill>
          <a:ln>
            <a:solidFill>
              <a:srgbClr val="E8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9504" y="2148840"/>
            <a:ext cx="1865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8313A"/>
                </a:solidFill>
                <a:latin typeface="Microsoft YaHei"/>
              </a:rPr>
              <a:t>1,443,933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504" y="2514600"/>
            <a:ext cx="186537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8757A"/>
                </a:solidFill>
                <a:latin typeface="Microsoft YaHei"/>
              </a:rPr>
              <a:t>预估关系规模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46120"/>
            <a:ext cx="4169663" cy="2103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355848"/>
            <a:ext cx="38404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数据质量与清洗意义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657600"/>
            <a:ext cx="3749039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30.52% 电影缺评分，36.76% 缺剧情简介</a:t>
            </a:r>
          </a:p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因此必须先做 genres / regions / languages 标准化</a:t>
            </a:r>
          </a:p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再统一空值、修正异常字段，最后进入 ETL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1097280"/>
            <a:ext cx="6291072" cy="4251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1207007"/>
            <a:ext cx="596188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图谱模式与 ETL 逻辑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2331720"/>
            <a:ext cx="1051560" cy="502920"/>
          </a:xfrm>
          <a:prstGeom prst="roundRect">
            <a:avLst/>
          </a:prstGeom>
          <a:solidFill>
            <a:srgbClr val="F7ECE7"/>
          </a:solidFill>
          <a:ln w="13970">
            <a:solidFill>
              <a:srgbClr val="F7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7" y="2441448"/>
            <a:ext cx="1005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18313A"/>
                </a:solidFill>
                <a:latin typeface="Aptos"/>
              </a:rPr>
              <a:t>Movie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1965960"/>
            <a:ext cx="1051560" cy="502920"/>
          </a:xfrm>
          <a:prstGeom prst="roundRect">
            <a:avLst/>
          </a:prstGeom>
          <a:solidFill>
            <a:srgbClr val="EAF1E6"/>
          </a:solidFill>
          <a:ln w="13970">
            <a:solidFill>
              <a:srgbClr val="EA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07607" y="2075688"/>
            <a:ext cx="1005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18313A"/>
                </a:solidFill>
                <a:latin typeface="Aptos"/>
              </a:rPr>
              <a:t>Person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1965960"/>
            <a:ext cx="1051560" cy="502920"/>
          </a:xfrm>
          <a:prstGeom prst="roundRect">
            <a:avLst/>
          </a:prstGeom>
          <a:solidFill>
            <a:srgbClr val="F6F0DB"/>
          </a:solidFill>
          <a:ln w="13970">
            <a:solidFill>
              <a:srgbClr val="F6F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65208" y="2075688"/>
            <a:ext cx="1005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18313A"/>
                </a:solidFill>
                <a:latin typeface="Aptos"/>
              </a:rPr>
              <a:t>Genre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3703320"/>
            <a:ext cx="1051560" cy="502920"/>
          </a:xfrm>
          <a:prstGeom prst="roundRect">
            <a:avLst/>
          </a:prstGeom>
          <a:solidFill>
            <a:srgbClr val="E8F0F1"/>
          </a:solidFill>
          <a:ln w="13970">
            <a:solidFill>
              <a:srgbClr val="E8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07607" y="3813048"/>
            <a:ext cx="1005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18313A"/>
                </a:solidFill>
                <a:latin typeface="Aptos"/>
              </a:rPr>
              <a:t>Region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4069080"/>
            <a:ext cx="1051560" cy="502920"/>
          </a:xfrm>
          <a:prstGeom prst="roundRect">
            <a:avLst/>
          </a:prstGeom>
          <a:solidFill>
            <a:srgbClr val="EAF1E6"/>
          </a:solidFill>
          <a:ln w="13970">
            <a:solidFill>
              <a:srgbClr val="EA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53527" y="4178808"/>
            <a:ext cx="1005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18313A"/>
                </a:solidFill>
                <a:latin typeface="Aptos"/>
              </a:rPr>
              <a:t>Language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6920" y="3703320"/>
            <a:ext cx="1051560" cy="502920"/>
          </a:xfrm>
          <a:prstGeom prst="roundRect">
            <a:avLst/>
          </a:prstGeom>
          <a:solidFill>
            <a:srgbClr val="F6F0DB"/>
          </a:solidFill>
          <a:ln w="13970">
            <a:solidFill>
              <a:srgbClr val="F6F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65208" y="3813048"/>
            <a:ext cx="1005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18313A"/>
                </a:solidFill>
                <a:latin typeface="Aptos"/>
              </a:rPr>
              <a:t>YearBucket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04120" y="2880360"/>
            <a:ext cx="1051560" cy="502920"/>
          </a:xfrm>
          <a:prstGeom prst="roundRect">
            <a:avLst/>
          </a:prstGeom>
          <a:solidFill>
            <a:srgbClr val="F7ECE7"/>
          </a:solidFill>
          <a:ln w="13970">
            <a:solidFill>
              <a:srgbClr val="F7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22408" y="2990088"/>
            <a:ext cx="1005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18313A"/>
                </a:solidFill>
                <a:latin typeface="Aptos"/>
              </a:rPr>
              <a:t>ContentType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040880" y="2212848"/>
            <a:ext cx="594360" cy="301752"/>
          </a:xfrm>
          <a:prstGeom prst="line">
            <a:avLst/>
          </a:prstGeom>
          <a:ln w="1524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90588" y="2199132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0">
                <a:solidFill>
                  <a:srgbClr val="68757A"/>
                </a:solidFill>
                <a:latin typeface="Microsoft YaHei"/>
              </a:rPr>
              <a:t>DIRECTED /
ACTED_IN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8686800" y="2212848"/>
            <a:ext cx="960120" cy="301752"/>
          </a:xfrm>
          <a:prstGeom prst="line">
            <a:avLst/>
          </a:prstGeom>
          <a:ln w="1524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819388" y="2199132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0">
                <a:solidFill>
                  <a:srgbClr val="68757A"/>
                </a:solidFill>
                <a:latin typeface="Microsoft YaHei"/>
              </a:rPr>
              <a:t>HAS_GENRE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537960" y="2834640"/>
            <a:ext cx="1097280" cy="841247"/>
          </a:xfrm>
          <a:prstGeom prst="line">
            <a:avLst/>
          </a:prstGeom>
          <a:ln w="1524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39128" y="3090671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0">
                <a:solidFill>
                  <a:srgbClr val="68757A"/>
                </a:solidFill>
                <a:latin typeface="Microsoft YaHei"/>
              </a:rPr>
              <a:t>IN_REGION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8156448" y="2834640"/>
            <a:ext cx="0" cy="1234440"/>
          </a:xfrm>
          <a:prstGeom prst="line">
            <a:avLst/>
          </a:prstGeom>
          <a:ln w="1524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808975" y="3287268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0">
                <a:solidFill>
                  <a:srgbClr val="68757A"/>
                </a:solidFill>
                <a:latin typeface="Microsoft YaHei"/>
              </a:rPr>
              <a:t>IN_LANGUAGE</a:t>
            </a:r>
          </a:p>
        </p:txBody>
      </p:sp>
      <p:cxnSp>
        <p:nvCxnSpPr>
          <p:cNvPr id="45" name="Connector 44"/>
          <p:cNvCxnSpPr/>
          <p:nvPr/>
        </p:nvCxnSpPr>
        <p:spPr>
          <a:xfrm flipH="1" flipV="1">
            <a:off x="8659368" y="2834640"/>
            <a:ext cx="987552" cy="841247"/>
          </a:xfrm>
          <a:prstGeom prst="line">
            <a:avLst/>
          </a:prstGeom>
          <a:ln w="1524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805672" y="3090671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0">
                <a:solidFill>
                  <a:srgbClr val="68757A"/>
                </a:solidFill>
                <a:latin typeface="Microsoft YaHei"/>
              </a:rPr>
              <a:t>IN_YEAR_BUCKET</a:t>
            </a:r>
          </a:p>
        </p:txBody>
      </p:sp>
      <p:cxnSp>
        <p:nvCxnSpPr>
          <p:cNvPr id="47" name="Connector 46"/>
          <p:cNvCxnSpPr/>
          <p:nvPr/>
        </p:nvCxnSpPr>
        <p:spPr>
          <a:xfrm flipH="1" flipV="1">
            <a:off x="8732520" y="2697480"/>
            <a:ext cx="1307592" cy="438912"/>
          </a:xfrm>
          <a:prstGeom prst="line">
            <a:avLst/>
          </a:prstGeom>
          <a:ln w="1524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38844" y="2752344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0">
                <a:solidFill>
                  <a:srgbClr val="68757A"/>
                </a:solidFill>
                <a:latin typeface="Microsoft YaHei"/>
              </a:rPr>
              <a:t>HAS_CONTENT_TYPE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76672" y="4754880"/>
            <a:ext cx="1417320" cy="256032"/>
          </a:xfrm>
          <a:prstGeom prst="roundRect">
            <a:avLst/>
          </a:prstGeom>
          <a:solidFill>
            <a:srgbClr val="18313A"/>
          </a:solidFill>
          <a:ln>
            <a:solidFill>
              <a:srgbClr val="18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04104" y="4764024"/>
            <a:ext cx="136245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crawl_movie / crawl_person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67728" y="4754880"/>
            <a:ext cx="1097280" cy="256032"/>
          </a:xfrm>
          <a:prstGeom prst="roundRect">
            <a:avLst/>
          </a:prstGeom>
          <a:solidFill>
            <a:srgbClr val="4F6F52"/>
          </a:solidFill>
          <a:ln>
            <a:solidFill>
              <a:srgbClr val="4F6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95160" y="4764024"/>
            <a:ext cx="1042415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clean_pipeline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0" y="4754880"/>
            <a:ext cx="1325880" cy="256032"/>
          </a:xfrm>
          <a:prstGeom prst="roundRect">
            <a:avLst/>
          </a:prstGeom>
          <a:solidFill>
            <a:srgbClr val="C97C5D"/>
          </a:solidFill>
          <a:ln>
            <a:solidFill>
              <a:srgbClr val="C97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57031" y="4764024"/>
            <a:ext cx="127101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etl_to_neo4j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29216" y="4754880"/>
            <a:ext cx="1371600" cy="256032"/>
          </a:xfrm>
          <a:prstGeom prst="roundRect">
            <a:avLst/>
          </a:prstGeom>
          <a:solidFill>
            <a:srgbClr val="97B067"/>
          </a:solidFill>
          <a:ln>
            <a:solidFill>
              <a:srgbClr val="97B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56648" y="4764024"/>
            <a:ext cx="131673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graph query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38328"/>
            <a:ext cx="228600" cy="228600"/>
          </a:xfrm>
          <a:prstGeom prst="roundRect">
            <a:avLst/>
          </a:prstGeom>
          <a:solidFill>
            <a:srgbClr val="C97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19456"/>
            <a:ext cx="8961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8313A"/>
                </a:solidFill>
                <a:latin typeface="Microsoft YaHei"/>
              </a:rPr>
              <a:t>推荐系统设计</a:t>
            </a:r>
          </a:p>
        </p:txBody>
      </p:sp>
      <p:sp>
        <p:nvSpPr>
          <p:cNvPr id="4" name="Oval 3"/>
          <p:cNvSpPr/>
          <p:nvPr/>
        </p:nvSpPr>
        <p:spPr>
          <a:xfrm>
            <a:off x="11119104" y="228600"/>
            <a:ext cx="548640" cy="548640"/>
          </a:xfrm>
          <a:prstGeom prst="ellipse">
            <a:avLst/>
          </a:prstGeom>
          <a:solidFill>
            <a:srgbClr val="18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3968" y="329184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097280" cy="256032"/>
          </a:xfrm>
          <a:prstGeom prst="roundRect">
            <a:avLst/>
          </a:prstGeom>
          <a:solidFill>
            <a:srgbClr val="C97C5D"/>
          </a:solidFill>
          <a:ln>
            <a:solidFill>
              <a:srgbClr val="C97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88136"/>
            <a:ext cx="1042415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用户信号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2331720" cy="914400"/>
          </a:xfrm>
          <a:prstGeom prst="roundRect">
            <a:avLst/>
          </a:prstGeom>
          <a:solidFill>
            <a:srgbClr val="F7ECE7"/>
          </a:solidFill>
          <a:ln w="13970">
            <a:solidFill>
              <a:srgbClr val="F7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72768"/>
            <a:ext cx="19659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8313A"/>
                </a:solidFill>
                <a:latin typeface="Microsoft YaHei"/>
              </a:rPr>
              <a:t>评分 / 喜欢 / 想看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74519"/>
            <a:ext cx="19659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8757A"/>
                </a:solidFill>
                <a:latin typeface="Microsoft YaHei"/>
              </a:rPr>
              <a:t>映射成正反馈画像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99232" y="1828800"/>
            <a:ext cx="704088" cy="0"/>
          </a:xfrm>
          <a:prstGeom prst="line">
            <a:avLst/>
          </a:prstGeom>
          <a:ln w="2540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30752" y="1234440"/>
            <a:ext cx="2788920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1344168"/>
            <a:ext cx="24597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基线方法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1664208"/>
            <a:ext cx="23774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content：基于内容相似度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item_cf：基于物品协同过滤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48272" y="1234440"/>
            <a:ext cx="2788920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2864" y="1344168"/>
            <a:ext cx="24597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图谱方法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664208"/>
            <a:ext cx="23774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kg_path：显式关系路径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kg_embed：图谱结构嵌入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48072" y="2432304"/>
            <a:ext cx="0" cy="722376"/>
          </a:xfrm>
          <a:prstGeom prst="line">
            <a:avLst/>
          </a:prstGeom>
          <a:ln w="2540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65592" y="2432304"/>
            <a:ext cx="0" cy="722376"/>
          </a:xfrm>
          <a:prstGeom prst="line">
            <a:avLst/>
          </a:prstGeom>
          <a:ln w="2540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43984" y="3246120"/>
            <a:ext cx="3794760" cy="1188720"/>
          </a:xfrm>
          <a:prstGeom prst="roundRect">
            <a:avLst/>
          </a:prstGeom>
          <a:solidFill>
            <a:srgbClr val="18313A"/>
          </a:solidFill>
          <a:ln w="13970">
            <a:solidFill>
              <a:srgbClr val="18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3355848"/>
            <a:ext cx="34655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/>
              </a:rPr>
              <a:t>CFKG 主链路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639312"/>
            <a:ext cx="338328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YaHei"/>
              </a:rPr>
              <a:t>ItemCF + KG-Embed + KG-Path 融合排序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Microsoft YaHei"/>
              </a:rPr>
              <a:t>当前最佳参数：0.60 / 0.25 / 0.15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57031" y="3840480"/>
            <a:ext cx="1024129" cy="0"/>
          </a:xfrm>
          <a:prstGeom prst="line">
            <a:avLst/>
          </a:prstGeom>
          <a:ln w="25400">
            <a:solidFill>
              <a:srgbClr val="C97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00032" y="3108960"/>
            <a:ext cx="2011680" cy="1828800"/>
          </a:xfrm>
          <a:prstGeom prst="roundRect">
            <a:avLst/>
          </a:prstGeom>
          <a:solidFill>
            <a:srgbClr val="EAF1E6"/>
          </a:solidFill>
          <a:ln w="13970">
            <a:solidFill>
              <a:srgbClr val="EA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64624" y="3218688"/>
            <a:ext cx="168249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系统能力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4624" y="3520440"/>
            <a:ext cx="1664208" cy="10515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150" b="0">
                <a:solidFill>
                  <a:srgbClr val="233239"/>
                </a:solidFill>
                <a:latin typeface="Microsoft YaHei"/>
              </a:rPr>
              <a:t>冷启动阈值：3</a:t>
            </a:r>
          </a:p>
          <a:p>
            <a:pPr algn="l"/>
            <a:r>
              <a:rPr sz="1150" b="0">
                <a:solidFill>
                  <a:srgbClr val="233239"/>
                </a:solidFill>
                <a:latin typeface="Microsoft YaHei"/>
              </a:rPr>
              <a:t>解释接口返回 reason_paths / nodes / edges</a:t>
            </a:r>
          </a:p>
          <a:p>
            <a:pPr algn="l"/>
            <a:r>
              <a:rPr sz="1150" b="0">
                <a:solidFill>
                  <a:srgbClr val="233239"/>
                </a:solidFill>
                <a:latin typeface="Microsoft YaHei"/>
              </a:rPr>
              <a:t>CFKG 是主链路，但不是当前最优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657600"/>
            <a:ext cx="3383280" cy="1280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3767328"/>
            <a:ext cx="305409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为什么要保留 5 种算法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069080"/>
            <a:ext cx="2971800" cy="69494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基线方法用于对照图谱是否有效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KG-Path 强解释，KG-Embed 强泛化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CFKG 负责融合成系统主推荐框架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00800"/>
            <a:ext cx="10058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8757A"/>
                </a:solidFill>
                <a:latin typeface="Microsoft YaHei"/>
              </a:rPr>
              <a:t>推荐系统不是单一算法页面，而是包含冷启动、解释和融合主链路的完整模块。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38328"/>
            <a:ext cx="228600" cy="228600"/>
          </a:xfrm>
          <a:prstGeom prst="roundRect">
            <a:avLst/>
          </a:prstGeom>
          <a:solidFill>
            <a:srgbClr val="C97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19456"/>
            <a:ext cx="8961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8313A"/>
                </a:solidFill>
                <a:latin typeface="Microsoft YaHei"/>
              </a:rPr>
              <a:t>当前完成情况与系统成果</a:t>
            </a:r>
          </a:p>
        </p:txBody>
      </p:sp>
      <p:sp>
        <p:nvSpPr>
          <p:cNvPr id="4" name="Oval 3"/>
          <p:cNvSpPr/>
          <p:nvPr/>
        </p:nvSpPr>
        <p:spPr>
          <a:xfrm>
            <a:off x="11119104" y="228600"/>
            <a:ext cx="548640" cy="548640"/>
          </a:xfrm>
          <a:prstGeom prst="ellipse">
            <a:avLst/>
          </a:prstGeom>
          <a:solidFill>
            <a:srgbClr val="18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3968" y="329184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365760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280160"/>
            <a:ext cx="33284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数据链路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572768"/>
            <a:ext cx="3337560" cy="51206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电影与影人爬虫已完成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清洗流程可运行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ETL 可导入 Neo4j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87168"/>
            <a:ext cx="365760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596896"/>
            <a:ext cx="33284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后端能力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89504"/>
            <a:ext cx="3337560" cy="51206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movies / persons / graph / stats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users / recommend / auth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接口总数已达 58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03904"/>
            <a:ext cx="365760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913632"/>
            <a:ext cx="33284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前端展示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206240"/>
            <a:ext cx="3337560" cy="51206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搜索、详情、推荐、图谱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统计、个人中心、认证页面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可支持完整演示流程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120640"/>
            <a:ext cx="365760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230368"/>
            <a:ext cx="33284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验证保障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5522976"/>
            <a:ext cx="3337560" cy="51206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11 个测试文件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离线评测流程可复现</a:t>
            </a:r>
          </a:p>
          <a:p>
            <a:pPr algn="l"/>
            <a:r>
              <a:rPr sz="1250" b="0">
                <a:solidFill>
                  <a:srgbClr val="233239"/>
                </a:solidFill>
                <a:latin typeface="Microsoft YaHei"/>
              </a:rPr>
              <a:t>关键推荐能力已验证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6592" y="1280160"/>
            <a:ext cx="1828800" cy="914400"/>
          </a:xfrm>
          <a:prstGeom prst="roundRect">
            <a:avLst/>
          </a:prstGeom>
          <a:solidFill>
            <a:srgbClr val="F7ECE7"/>
          </a:solidFill>
          <a:ln>
            <a:solidFill>
              <a:srgbClr val="F7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1371600"/>
            <a:ext cx="16824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8313A"/>
                </a:solidFill>
                <a:latin typeface="Microsoft YaHei"/>
              </a:rPr>
              <a:t>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1737360"/>
            <a:ext cx="16824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8757A"/>
                </a:solidFill>
                <a:latin typeface="Microsoft YaHei"/>
              </a:rPr>
              <a:t>FastAPI 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280160"/>
            <a:ext cx="1828800" cy="914400"/>
          </a:xfrm>
          <a:prstGeom prst="roundRect">
            <a:avLst/>
          </a:prstGeom>
          <a:solidFill>
            <a:srgbClr val="EAF1E6"/>
          </a:solidFill>
          <a:ln>
            <a:solidFill>
              <a:srgbClr val="EA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1371600"/>
            <a:ext cx="16824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8313A"/>
                </a:solidFill>
                <a:latin typeface="Microsoft YaHei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1737360"/>
            <a:ext cx="16824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8757A"/>
                </a:solidFill>
                <a:latin typeface="Microsoft YaHei"/>
              </a:rPr>
              <a:t>前端页面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05088" y="1280160"/>
            <a:ext cx="1828800" cy="914400"/>
          </a:xfrm>
          <a:prstGeom prst="roundRect">
            <a:avLst/>
          </a:prstGeom>
          <a:solidFill>
            <a:srgbClr val="F6F0DB"/>
          </a:solidFill>
          <a:ln>
            <a:solidFill>
              <a:srgbClr val="F6F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371600"/>
            <a:ext cx="16824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8313A"/>
                </a:solidFill>
                <a:latin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1737360"/>
            <a:ext cx="16824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8757A"/>
                </a:solidFill>
                <a:latin typeface="Microsoft YaHei"/>
              </a:rPr>
              <a:t>推荐算法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2423160"/>
            <a:ext cx="1828800" cy="914400"/>
          </a:xfrm>
          <a:prstGeom prst="roundRect">
            <a:avLst/>
          </a:prstGeom>
          <a:solidFill>
            <a:srgbClr val="E8F0F1"/>
          </a:solidFill>
          <a:ln>
            <a:solidFill>
              <a:srgbClr val="E8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2514600"/>
            <a:ext cx="16824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8313A"/>
                </a:solidFill>
                <a:latin typeface="Microsoft YaHe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2880360"/>
            <a:ext cx="16824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8757A"/>
                </a:solidFill>
                <a:latin typeface="Microsoft YaHei"/>
              </a:rPr>
              <a:t>测试文件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36592" y="3703320"/>
            <a:ext cx="6492240" cy="2468880"/>
          </a:xfrm>
          <a:prstGeom prst="roundRect">
            <a:avLst/>
          </a:prstGeom>
          <a:solidFill>
            <a:srgbClr val="18313A"/>
          </a:solidFill>
          <a:ln w="13970">
            <a:solidFill>
              <a:srgbClr val="18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01183" y="3813048"/>
            <a:ext cx="616305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/>
              </a:rPr>
              <a:t>中期阶段结论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4160520"/>
            <a:ext cx="6035040" cy="1417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已经完成数据采集、图谱构建、接口开发、前端展示和离线评测主链路。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因此中期阶段不是停留在设计文档，而是已经形成可运行、可展示、可评测的系统原型。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后续重点从功能实现转向效果优化与论文写作。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38328"/>
            <a:ext cx="228600" cy="228600"/>
          </a:xfrm>
          <a:prstGeom prst="roundRect">
            <a:avLst/>
          </a:prstGeom>
          <a:solidFill>
            <a:srgbClr val="C97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19456"/>
            <a:ext cx="8961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8313A"/>
                </a:solidFill>
                <a:latin typeface="Microsoft YaHei"/>
              </a:rPr>
              <a:t>实验结果、当前问题与下一步</a:t>
            </a:r>
          </a:p>
        </p:txBody>
      </p:sp>
      <p:sp>
        <p:nvSpPr>
          <p:cNvPr id="4" name="Oval 3"/>
          <p:cNvSpPr/>
          <p:nvPr/>
        </p:nvSpPr>
        <p:spPr>
          <a:xfrm>
            <a:off x="11119104" y="228600"/>
            <a:ext cx="548640" cy="548640"/>
          </a:xfrm>
          <a:prstGeom prst="ellipse">
            <a:avLst/>
          </a:prstGeom>
          <a:solidFill>
            <a:srgbClr val="18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3968" y="329184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024128"/>
            <a:ext cx="1554480" cy="256032"/>
          </a:xfrm>
          <a:prstGeom prst="roundRect">
            <a:avLst/>
          </a:prstGeom>
          <a:solidFill>
            <a:srgbClr val="C97C5D"/>
          </a:solidFill>
          <a:ln>
            <a:solidFill>
              <a:srgbClr val="C97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33272"/>
            <a:ext cx="149961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42 / 168 验证 / 测试用户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1024128"/>
            <a:ext cx="1691640" cy="256032"/>
          </a:xfrm>
          <a:prstGeom prst="roundRect">
            <a:avLst/>
          </a:prstGeom>
          <a:solidFill>
            <a:srgbClr val="4F6F52"/>
          </a:solidFill>
          <a:ln>
            <a:solidFill>
              <a:srgbClr val="4F6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6584" y="1033272"/>
            <a:ext cx="163677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sampled leave-one-out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1024128"/>
            <a:ext cx="1645920" cy="256032"/>
          </a:xfrm>
          <a:prstGeom prst="roundRect">
            <a:avLst/>
          </a:prstGeom>
          <a:solidFill>
            <a:srgbClr val="97B067"/>
          </a:solidFill>
          <a:ln>
            <a:solidFill>
              <a:srgbClr val="97B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5384" y="1033272"/>
            <a:ext cx="159105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1 positive + 99 negatives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508760"/>
            <a:ext cx="2011680" cy="411480"/>
          </a:xfrm>
          <a:prstGeom prst="rect">
            <a:avLst/>
          </a:prstGeom>
          <a:solidFill>
            <a:srgbClr val="18313A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45336"/>
            <a:ext cx="195681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算法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508760"/>
            <a:ext cx="1143000" cy="411480"/>
          </a:xfrm>
          <a:prstGeom prst="rect">
            <a:avLst/>
          </a:prstGeom>
          <a:solidFill>
            <a:srgbClr val="18313A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1545336"/>
            <a:ext cx="108813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HR@10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3048" y="1508760"/>
            <a:ext cx="1234440" cy="411480"/>
          </a:xfrm>
          <a:prstGeom prst="rect">
            <a:avLst/>
          </a:prstGeom>
          <a:solidFill>
            <a:srgbClr val="18313A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545336"/>
            <a:ext cx="117957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NDCG@10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7488" y="1508760"/>
            <a:ext cx="1097280" cy="411480"/>
          </a:xfrm>
          <a:prstGeom prst="rect">
            <a:avLst/>
          </a:prstGeom>
          <a:solidFill>
            <a:srgbClr val="18313A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545336"/>
            <a:ext cx="1042415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Time(s)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1920240"/>
            <a:ext cx="201168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1956816"/>
            <a:ext cx="19568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0048" y="1920240"/>
            <a:ext cx="114300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79" y="1956816"/>
            <a:ext cx="108813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0.3678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3048" y="1920240"/>
            <a:ext cx="123444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1956816"/>
            <a:ext cx="11795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0.1846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47488" y="1920240"/>
            <a:ext cx="109728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956816"/>
            <a:ext cx="1042415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304288"/>
            <a:ext cx="2011680" cy="384048"/>
          </a:xfrm>
          <a:prstGeom prst="rect">
            <a:avLst/>
          </a:prstGeom>
          <a:solidFill>
            <a:srgbClr val="EAF1E6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340864"/>
            <a:ext cx="19568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233239"/>
                </a:solidFill>
                <a:latin typeface="Microsoft YaHei"/>
              </a:rPr>
              <a:t>item_cf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2304288"/>
            <a:ext cx="1143000" cy="384048"/>
          </a:xfrm>
          <a:prstGeom prst="rect">
            <a:avLst/>
          </a:prstGeom>
          <a:solidFill>
            <a:srgbClr val="EAF1E6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79" y="2340864"/>
            <a:ext cx="108813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0.8083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3048" y="2304288"/>
            <a:ext cx="1234440" cy="384048"/>
          </a:xfrm>
          <a:prstGeom prst="rect">
            <a:avLst/>
          </a:prstGeom>
          <a:solidFill>
            <a:srgbClr val="EAF1E6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2340864"/>
            <a:ext cx="11795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0.5992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47488" y="2304288"/>
            <a:ext cx="1097280" cy="384048"/>
          </a:xfrm>
          <a:prstGeom prst="rect">
            <a:avLst/>
          </a:prstGeom>
          <a:solidFill>
            <a:srgbClr val="EAF1E6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340864"/>
            <a:ext cx="1042415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0.54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2688336"/>
            <a:ext cx="201168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2724912"/>
            <a:ext cx="19568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kg_path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2688336"/>
            <a:ext cx="114300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79" y="2724912"/>
            <a:ext cx="108813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0.3702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13048" y="2688336"/>
            <a:ext cx="123444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0" y="2724912"/>
            <a:ext cx="11795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0.2573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47488" y="2688336"/>
            <a:ext cx="109728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2724912"/>
            <a:ext cx="1042415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3.34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3072384"/>
            <a:ext cx="2011680" cy="384048"/>
          </a:xfrm>
          <a:prstGeom prst="rect">
            <a:avLst/>
          </a:prstGeom>
          <a:solidFill>
            <a:srgbClr val="F6F0DB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108960"/>
            <a:ext cx="19568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233239"/>
                </a:solidFill>
                <a:latin typeface="Microsoft YaHei"/>
              </a:rPr>
              <a:t>kg_embed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70048" y="3072384"/>
            <a:ext cx="1143000" cy="384048"/>
          </a:xfrm>
          <a:prstGeom prst="rect">
            <a:avLst/>
          </a:prstGeom>
          <a:solidFill>
            <a:srgbClr val="F6F0DB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79" y="3108960"/>
            <a:ext cx="108813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0.5333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13048" y="3072384"/>
            <a:ext cx="1234440" cy="384048"/>
          </a:xfrm>
          <a:prstGeom prst="rect">
            <a:avLst/>
          </a:prstGeom>
          <a:solidFill>
            <a:srgbClr val="F6F0DB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0" y="3108960"/>
            <a:ext cx="11795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0.3330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47488" y="3072384"/>
            <a:ext cx="1097280" cy="384048"/>
          </a:xfrm>
          <a:prstGeom prst="rect">
            <a:avLst/>
          </a:prstGeom>
          <a:solidFill>
            <a:srgbClr val="F6F0DB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3108960"/>
            <a:ext cx="1042415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5.98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3456432"/>
            <a:ext cx="2011680" cy="384048"/>
          </a:xfrm>
          <a:prstGeom prst="rect">
            <a:avLst/>
          </a:prstGeom>
          <a:solidFill>
            <a:srgbClr val="F7ECE7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3493008"/>
            <a:ext cx="19568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233239"/>
                </a:solidFill>
                <a:latin typeface="Microsoft YaHei"/>
              </a:rPr>
              <a:t>cfkg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70048" y="3456432"/>
            <a:ext cx="1143000" cy="384048"/>
          </a:xfrm>
          <a:prstGeom prst="rect">
            <a:avLst/>
          </a:prstGeom>
          <a:solidFill>
            <a:srgbClr val="F7ECE7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97479" y="3493008"/>
            <a:ext cx="108813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0.4393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13048" y="3456432"/>
            <a:ext cx="1234440" cy="384048"/>
          </a:xfrm>
          <a:prstGeom prst="rect">
            <a:avLst/>
          </a:prstGeom>
          <a:solidFill>
            <a:srgbClr val="F7ECE7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0" y="3493008"/>
            <a:ext cx="11795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0.3156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47488" y="3456432"/>
            <a:ext cx="1097280" cy="384048"/>
          </a:xfrm>
          <a:prstGeom prst="rect">
            <a:avLst/>
          </a:prstGeom>
          <a:solidFill>
            <a:srgbClr val="F7ECE7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74920" y="3493008"/>
            <a:ext cx="1042415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0">
                <a:solidFill>
                  <a:srgbClr val="233239"/>
                </a:solidFill>
                <a:latin typeface="Microsoft YaHei"/>
              </a:rPr>
              <a:t>18.59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" y="3822191"/>
            <a:ext cx="553212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59" y="3931920"/>
            <a:ext cx="5202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18313A"/>
                </a:solidFill>
                <a:latin typeface="Microsoft YaHei"/>
              </a:rPr>
              <a:t>当前判断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4261104"/>
            <a:ext cx="5102352" cy="10972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ItemCF 当前整体最优，说明协同过滤信号仍然非常强。</a:t>
            </a:r>
          </a:p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KG-Embed 是当前效果最好的图谱方法，图谱结构已经体现价值。</a:t>
            </a:r>
          </a:p>
          <a:p>
            <a:pPr algn="l"/>
            <a:r>
              <a:rPr sz="1300" b="0">
                <a:solidFill>
                  <a:srgbClr val="233239"/>
                </a:solidFill>
                <a:latin typeface="Microsoft YaHei"/>
              </a:rPr>
              <a:t>CFKG 作为融合主链路仍有提升空间，尤其是召回质量和响应时间。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28232" y="1508760"/>
            <a:ext cx="4800600" cy="4462272"/>
          </a:xfrm>
          <a:prstGeom prst="roundRect">
            <a:avLst/>
          </a:prstGeom>
          <a:solidFill>
            <a:srgbClr val="18313A"/>
          </a:solidFill>
          <a:ln w="13970">
            <a:solidFill>
              <a:srgbClr val="18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92824" y="1618488"/>
            <a:ext cx="44714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/>
              </a:rPr>
              <a:t>下一阶段重点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56832" y="1965960"/>
            <a:ext cx="4343400" cy="19202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1. 优化 CFKG 的权重、候选池和融合排序。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2. 补充 ablation 与实验分析，形成更完整的结论支撑。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3. 推进论文摘要、绪论、系统设计和实验分析部分写作。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56832" y="4663440"/>
            <a:ext cx="431596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12280" y="4882896"/>
            <a:ext cx="400507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50" b="1">
                <a:solidFill>
                  <a:srgbClr val="18313A"/>
                </a:solidFill>
                <a:latin typeface="Microsoft YaHei"/>
              </a:rPr>
              <a:t>中期判断：系统主链路已打通，当前重点是优化与写作。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7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汇报结束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66751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感谢各位老师批评指正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2004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73968" y="429768"/>
            <a:ext cx="51206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313A"/>
                </a:solidFill>
                <a:latin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486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6400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系统已从功能实现阶段转入效果优化与论文写作阶段。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5943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Microsoft YaHei"/>
              </a:rPr>
              <a:t>欢迎老师围绕系统架构、推荐方法、实验结果和后续计划提出问题。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66760" y="1234440"/>
            <a:ext cx="2194560" cy="548640"/>
          </a:xfrm>
          <a:prstGeom prst="line">
            <a:avLst/>
          </a:prstGeom>
          <a:ln w="15240">
            <a:solidFill>
              <a:srgbClr val="E8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646920" y="1783080"/>
            <a:ext cx="914400" cy="1188720"/>
          </a:xfrm>
          <a:prstGeom prst="line">
            <a:avLst/>
          </a:prstGeom>
          <a:ln w="15240">
            <a:solidFill>
              <a:srgbClr val="E8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46920" y="2971800"/>
            <a:ext cx="1325880" cy="822960"/>
          </a:xfrm>
          <a:prstGeom prst="line">
            <a:avLst/>
          </a:prstGeom>
          <a:ln w="15240">
            <a:solidFill>
              <a:srgbClr val="E8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66760" y="1234440"/>
            <a:ext cx="548640" cy="2468880"/>
          </a:xfrm>
          <a:prstGeom prst="line">
            <a:avLst/>
          </a:prstGeom>
          <a:ln w="15240">
            <a:solidFill>
              <a:srgbClr val="E8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15400" y="3703320"/>
            <a:ext cx="2057400" cy="91440"/>
          </a:xfrm>
          <a:prstGeom prst="line">
            <a:avLst/>
          </a:prstGeom>
          <a:ln w="15240">
            <a:solidFill>
              <a:srgbClr val="E8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229600" y="1060704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97312" y="1700784"/>
            <a:ext cx="256032" cy="256032"/>
          </a:xfrm>
          <a:prstGeom prst="ellipse">
            <a:avLst/>
          </a:prstGeom>
          <a:solidFill>
            <a:srgbClr val="F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82912" y="2889504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33104" y="3621024"/>
            <a:ext cx="164592" cy="164592"/>
          </a:xfrm>
          <a:prstGeom prst="ellipse">
            <a:avLst/>
          </a:prstGeom>
          <a:solidFill>
            <a:srgbClr val="F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81360" y="3712463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937760"/>
            <a:ext cx="2011680" cy="868680"/>
          </a:xfrm>
          <a:prstGeom prst="roundRect">
            <a:avLst/>
          </a:prstGeom>
          <a:solidFill>
            <a:srgbClr val="C97C5D"/>
          </a:solidFill>
          <a:ln>
            <a:solidFill>
              <a:srgbClr val="C97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5029200"/>
            <a:ext cx="1865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主链路已打通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" y="5394960"/>
            <a:ext cx="186537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icrosoft YaHei"/>
              </a:rPr>
              <a:t>系统状态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4937760"/>
            <a:ext cx="2011680" cy="868680"/>
          </a:xfrm>
          <a:prstGeom prst="roundRect">
            <a:avLst/>
          </a:prstGeom>
          <a:solidFill>
            <a:srgbClr val="4F6F52"/>
          </a:solidFill>
          <a:ln>
            <a:solidFill>
              <a:srgbClr val="4F6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7792" y="5029200"/>
            <a:ext cx="1865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优化 + 写作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5394960"/>
            <a:ext cx="186537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icrosoft YaHei"/>
              </a:rPr>
              <a:t>下一阶段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基于知识图谱的电影推荐系统中期汇报（重构版）</dc:title>
  <dc:subject>本科毕设中期汇报</dc:subject>
  <dc:creator>OpenAI Codex</dc:creator>
  <cp:keywords>Knowledge Graph, Recommendation, FastAPI, Vue, Neo4j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